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Gotham" charset="1" panose="00000000000000000000"/>
      <p:regular r:id="rId24"/>
    </p:embeddedFont>
    <p:embeddedFont>
      <p:font typeface="Gotham Bold" charset="1" panose="00000000000000000000"/>
      <p:regular r:id="rId25"/>
    </p:embeddedFont>
    <p:embeddedFont>
      <p:font typeface="Poppins Bold" charset="1" panose="00000800000000000000"/>
      <p:regular r:id="rId26"/>
    </p:embeddedFont>
    <p:embeddedFont>
      <p:font typeface="Gotham Heavy" charset="1" panose="02000900000000000000"/>
      <p:regular r:id="rId27"/>
    </p:embeddedFont>
    <p:embeddedFont>
      <p:font typeface="Poppins" charset="1" panose="00000500000000000000"/>
      <p:regular r:id="rId28"/>
    </p:embeddedFont>
    <p:embeddedFont>
      <p:font typeface="Space Mono Bold" charset="1" panose="020008090300000200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14" Target="../media/image17.png" Type="http://schemas.openxmlformats.org/officeDocument/2006/relationships/image"/><Relationship Id="rId15" Target="../media/image18.svg" Type="http://schemas.openxmlformats.org/officeDocument/2006/relationships/image"/><Relationship Id="rId16" Target="../media/image19.png" Type="http://schemas.openxmlformats.org/officeDocument/2006/relationships/image"/><Relationship Id="rId17" Target="../media/image20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Relationship Id="rId6" Target="../media/image47.png" Type="http://schemas.openxmlformats.org/officeDocument/2006/relationships/image"/><Relationship Id="rId7" Target="../media/image4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49.png" Type="http://schemas.openxmlformats.org/officeDocument/2006/relationships/image"/><Relationship Id="rId7" Target="../media/image50.svg" Type="http://schemas.openxmlformats.org/officeDocument/2006/relationships/image"/><Relationship Id="rId8" Target="../media/image51.png" Type="http://schemas.openxmlformats.org/officeDocument/2006/relationships/image"/><Relationship Id="rId9" Target="../media/image5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53.png" Type="http://schemas.openxmlformats.org/officeDocument/2006/relationships/image"/><Relationship Id="rId5" Target="../media/image5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55.png" Type="http://schemas.openxmlformats.org/officeDocument/2006/relationships/image"/><Relationship Id="rId7" Target="../media/image56.svg" Type="http://schemas.openxmlformats.org/officeDocument/2006/relationships/image"/><Relationship Id="rId8" Target="../media/image57.png" Type="http://schemas.openxmlformats.org/officeDocument/2006/relationships/image"/><Relationship Id="rId9" Target="../media/image5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59.png" Type="http://schemas.openxmlformats.org/officeDocument/2006/relationships/image"/><Relationship Id="rId5" Target="../media/image6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svg" Type="http://schemas.openxmlformats.org/officeDocument/2006/relationships/image"/><Relationship Id="rId4" Target="../media/image55.png" Type="http://schemas.openxmlformats.org/officeDocument/2006/relationships/image"/><Relationship Id="rId5" Target="../media/image5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9.png" Type="http://schemas.openxmlformats.org/officeDocument/2006/relationships/image"/><Relationship Id="rId11" Target="../media/image70.png" Type="http://schemas.openxmlformats.org/officeDocument/2006/relationships/image"/><Relationship Id="rId12" Target="../media/image71.svg" Type="http://schemas.openxmlformats.org/officeDocument/2006/relationships/image"/><Relationship Id="rId2" Target="../media/image61.png" Type="http://schemas.openxmlformats.org/officeDocument/2006/relationships/image"/><Relationship Id="rId3" Target="../media/image62.svg" Type="http://schemas.openxmlformats.org/officeDocument/2006/relationships/image"/><Relationship Id="rId4" Target="../media/image63.png" Type="http://schemas.openxmlformats.org/officeDocument/2006/relationships/image"/><Relationship Id="rId5" Target="../media/image64.svg" Type="http://schemas.openxmlformats.org/officeDocument/2006/relationships/image"/><Relationship Id="rId6" Target="../media/image65.png" Type="http://schemas.openxmlformats.org/officeDocument/2006/relationships/image"/><Relationship Id="rId7" Target="../media/image66.svg" Type="http://schemas.openxmlformats.org/officeDocument/2006/relationships/image"/><Relationship Id="rId8" Target="../media/image67.png" Type="http://schemas.openxmlformats.org/officeDocument/2006/relationships/image"/><Relationship Id="rId9" Target="../media/image6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2.png" Type="http://schemas.openxmlformats.org/officeDocument/2006/relationships/image"/><Relationship Id="rId3" Target="../media/image73.svg" Type="http://schemas.openxmlformats.org/officeDocument/2006/relationships/image"/><Relationship Id="rId4" Target="../media/image74.png" Type="http://schemas.openxmlformats.org/officeDocument/2006/relationships/image"/><Relationship Id="rId5" Target="../media/image75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6.png" Type="http://schemas.openxmlformats.org/officeDocument/2006/relationships/image"/><Relationship Id="rId3" Target="../embeddings/oleObject1.bin" Type="http://schemas.openxmlformats.org/officeDocument/2006/relationships/oleObject"/><Relationship Id="rId4" Target="../media/image77.png" Type="http://schemas.openxmlformats.org/officeDocument/2006/relationships/image"/><Relationship Id="rId5" Target="../media/image78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png" Type="http://schemas.openxmlformats.org/officeDocument/2006/relationships/image"/><Relationship Id="rId11" Target="../media/image56.svg" Type="http://schemas.openxmlformats.org/officeDocument/2006/relationships/image"/><Relationship Id="rId12" Target="../media/image85.png" Type="http://schemas.openxmlformats.org/officeDocument/2006/relationships/image"/><Relationship Id="rId13" Target="../media/image86.svg" Type="http://schemas.openxmlformats.org/officeDocument/2006/relationships/image"/><Relationship Id="rId14" Target="../media/image49.png" Type="http://schemas.openxmlformats.org/officeDocument/2006/relationships/image"/><Relationship Id="rId15" Target="../media/image50.svg" Type="http://schemas.openxmlformats.org/officeDocument/2006/relationships/image"/><Relationship Id="rId16" Target="../media/image87.png" Type="http://schemas.openxmlformats.org/officeDocument/2006/relationships/image"/><Relationship Id="rId17" Target="../media/image88.svg" Type="http://schemas.openxmlformats.org/officeDocument/2006/relationships/image"/><Relationship Id="rId2" Target="../media/image61.png" Type="http://schemas.openxmlformats.org/officeDocument/2006/relationships/image"/><Relationship Id="rId3" Target="../media/image62.svg" Type="http://schemas.openxmlformats.org/officeDocument/2006/relationships/image"/><Relationship Id="rId4" Target="../media/image79.png" Type="http://schemas.openxmlformats.org/officeDocument/2006/relationships/image"/><Relationship Id="rId5" Target="../media/image80.svg" Type="http://schemas.openxmlformats.org/officeDocument/2006/relationships/image"/><Relationship Id="rId6" Target="../media/image81.png" Type="http://schemas.openxmlformats.org/officeDocument/2006/relationships/image"/><Relationship Id="rId7" Target="../media/image82.svg" Type="http://schemas.openxmlformats.org/officeDocument/2006/relationships/image"/><Relationship Id="rId8" Target="../media/image83.png" Type="http://schemas.openxmlformats.org/officeDocument/2006/relationships/image"/><Relationship Id="rId9" Target="../media/image84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9.png" Type="http://schemas.openxmlformats.org/officeDocument/2006/relationships/image"/><Relationship Id="rId3" Target="../media/image9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8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1081088" y="2109371"/>
            <a:ext cx="0" cy="8398962"/>
          </a:xfrm>
          <a:prstGeom prst="line">
            <a:avLst/>
          </a:prstGeom>
          <a:ln cap="flat" w="66675">
            <a:solidFill>
              <a:srgbClr val="2E323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748022" y="5997710"/>
            <a:ext cx="0" cy="10979790"/>
          </a:xfrm>
          <a:prstGeom prst="line">
            <a:avLst/>
          </a:prstGeom>
          <a:ln cap="flat" w="66675">
            <a:solidFill>
              <a:srgbClr val="2E323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3384792" y="7862345"/>
            <a:ext cx="0" cy="10788507"/>
          </a:xfrm>
          <a:prstGeom prst="line">
            <a:avLst/>
          </a:prstGeom>
          <a:ln cap="flat" w="66675">
            <a:solidFill>
              <a:srgbClr val="2E323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265118" y="4819809"/>
            <a:ext cx="7391940" cy="8780922"/>
          </a:xfrm>
          <a:custGeom>
            <a:avLst/>
            <a:gdLst/>
            <a:ahLst/>
            <a:cxnLst/>
            <a:rect r="r" b="b" t="t" l="l"/>
            <a:pathLst>
              <a:path h="8780922" w="7391940">
                <a:moveTo>
                  <a:pt x="0" y="0"/>
                </a:moveTo>
                <a:lnTo>
                  <a:pt x="7391939" y="0"/>
                </a:lnTo>
                <a:lnTo>
                  <a:pt x="7391939" y="8780922"/>
                </a:lnTo>
                <a:lnTo>
                  <a:pt x="0" y="87809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65118" y="-3313731"/>
            <a:ext cx="7391940" cy="8780922"/>
          </a:xfrm>
          <a:custGeom>
            <a:avLst/>
            <a:gdLst/>
            <a:ahLst/>
            <a:cxnLst/>
            <a:rect r="r" b="b" t="t" l="l"/>
            <a:pathLst>
              <a:path h="8780922" w="7391940">
                <a:moveTo>
                  <a:pt x="0" y="0"/>
                </a:moveTo>
                <a:lnTo>
                  <a:pt x="7391939" y="0"/>
                </a:lnTo>
                <a:lnTo>
                  <a:pt x="7391939" y="8780922"/>
                </a:lnTo>
                <a:lnTo>
                  <a:pt x="0" y="8780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48022" y="2459061"/>
            <a:ext cx="6499262" cy="2185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3"/>
              </a:lnSpc>
            </a:pPr>
            <a:r>
              <a:rPr lang="en-US" sz="782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Ed</a:t>
            </a:r>
            <a:r>
              <a:rPr lang="en-US" sz="782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uGrade Global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44727" y="5634161"/>
            <a:ext cx="8220391" cy="736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518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Integrantes</a:t>
            </a:r>
            <a:r>
              <a:rPr lang="en-US" sz="251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: Samaan Piroli, Teodoro | </a:t>
            </a:r>
          </a:p>
          <a:p>
            <a:pPr algn="l">
              <a:lnSpc>
                <a:spcPts val="2997"/>
              </a:lnSpc>
            </a:pPr>
            <a:r>
              <a:rPr lang="en-US" sz="251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Danko, Ivo Ignacio | Iuzzolino, Maria Florencia.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720528" y="7702515"/>
            <a:ext cx="4605421" cy="338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400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Mate</a:t>
            </a:r>
            <a:r>
              <a:rPr lang="en-US" sz="2400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ria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: Ingeniería de Datos II</a:t>
            </a:r>
          </a:p>
        </p:txBody>
      </p:sp>
      <p:sp>
        <p:nvSpPr>
          <p:cNvPr name="AutoShape 10" id="10"/>
          <p:cNvSpPr/>
          <p:nvPr/>
        </p:nvSpPr>
        <p:spPr>
          <a:xfrm>
            <a:off x="2565642" y="6970548"/>
            <a:ext cx="0" cy="10979790"/>
          </a:xfrm>
          <a:prstGeom prst="line">
            <a:avLst/>
          </a:prstGeom>
          <a:ln cap="flat" w="66675">
            <a:solidFill>
              <a:srgbClr val="2E323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2882412" y="6792736"/>
            <a:ext cx="7099273" cy="365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518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Docente</a:t>
            </a:r>
            <a:r>
              <a:rPr lang="en-US" sz="251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: Salas, Joaquin.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C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97466" y="1696966"/>
            <a:ext cx="6893069" cy="6893069"/>
            <a:chOff x="0" y="0"/>
            <a:chExt cx="9190759" cy="919075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361190" y="0"/>
              <a:ext cx="4468379" cy="4468379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9F84E">
                      <a:alpha val="100000"/>
                    </a:srgbClr>
                  </a:gs>
                  <a:gs pos="100000">
                    <a:srgbClr val="9FDF01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73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3534807" y="1012357"/>
              <a:ext cx="2121145" cy="2379967"/>
            </a:xfrm>
            <a:custGeom>
              <a:avLst/>
              <a:gdLst/>
              <a:ahLst/>
              <a:cxnLst/>
              <a:rect r="r" b="b" t="t" l="l"/>
              <a:pathLst>
                <a:path h="2379967" w="2121145">
                  <a:moveTo>
                    <a:pt x="0" y="0"/>
                  </a:moveTo>
                  <a:lnTo>
                    <a:pt x="2121145" y="0"/>
                  </a:lnTo>
                  <a:lnTo>
                    <a:pt x="2121145" y="2379967"/>
                  </a:lnTo>
                  <a:lnTo>
                    <a:pt x="0" y="2379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4722379" y="2361190"/>
              <a:ext cx="4468379" cy="4468379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65C5C">
                      <a:alpha val="100000"/>
                    </a:srgbClr>
                  </a:gs>
                  <a:gs pos="100000">
                    <a:srgbClr val="D8404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73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5842979" y="3659964"/>
              <a:ext cx="2227180" cy="1870832"/>
            </a:xfrm>
            <a:custGeom>
              <a:avLst/>
              <a:gdLst/>
              <a:ahLst/>
              <a:cxnLst/>
              <a:rect r="r" b="b" t="t" l="l"/>
              <a:pathLst>
                <a:path h="1870832" w="2227180">
                  <a:moveTo>
                    <a:pt x="0" y="0"/>
                  </a:moveTo>
                  <a:lnTo>
                    <a:pt x="2227180" y="0"/>
                  </a:lnTo>
                  <a:lnTo>
                    <a:pt x="2227180" y="1870831"/>
                  </a:lnTo>
                  <a:lnTo>
                    <a:pt x="0" y="18708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1" id="11"/>
            <p:cNvGrpSpPr/>
            <p:nvPr/>
          </p:nvGrpSpPr>
          <p:grpSpPr>
            <a:xfrm rot="0">
              <a:off x="2361190" y="4722379"/>
              <a:ext cx="4468379" cy="4468379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5C67E6">
                      <a:alpha val="100000"/>
                    </a:srgbClr>
                  </a:gs>
                  <a:gs pos="100000">
                    <a:srgbClr val="40D8B4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73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3239285" y="6239534"/>
              <a:ext cx="2712189" cy="1434070"/>
            </a:xfrm>
            <a:custGeom>
              <a:avLst/>
              <a:gdLst/>
              <a:ahLst/>
              <a:cxnLst/>
              <a:rect r="r" b="b" t="t" l="l"/>
              <a:pathLst>
                <a:path h="1434070" w="2712189">
                  <a:moveTo>
                    <a:pt x="0" y="0"/>
                  </a:moveTo>
                  <a:lnTo>
                    <a:pt x="2712189" y="0"/>
                  </a:lnTo>
                  <a:lnTo>
                    <a:pt x="2712189" y="1434070"/>
                  </a:lnTo>
                  <a:lnTo>
                    <a:pt x="0" y="1434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5" id="15"/>
            <p:cNvGrpSpPr/>
            <p:nvPr/>
          </p:nvGrpSpPr>
          <p:grpSpPr>
            <a:xfrm rot="0">
              <a:off x="0" y="2361190"/>
              <a:ext cx="4468379" cy="4468379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63F8D">
                      <a:alpha val="100000"/>
                    </a:srgbClr>
                  </a:gs>
                  <a:gs pos="100000">
                    <a:srgbClr val="A521C6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73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8" id="18"/>
            <p:cNvSpPr/>
            <p:nvPr/>
          </p:nvSpPr>
          <p:spPr>
            <a:xfrm flipH="false" flipV="false" rot="0">
              <a:off x="1133948" y="3408988"/>
              <a:ext cx="2299258" cy="2398183"/>
            </a:xfrm>
            <a:custGeom>
              <a:avLst/>
              <a:gdLst/>
              <a:ahLst/>
              <a:cxnLst/>
              <a:rect r="r" b="b" t="t" l="l"/>
              <a:pathLst>
                <a:path h="2398183" w="2299258">
                  <a:moveTo>
                    <a:pt x="0" y="0"/>
                  </a:moveTo>
                  <a:lnTo>
                    <a:pt x="2299259" y="0"/>
                  </a:lnTo>
                  <a:lnTo>
                    <a:pt x="2299259" y="2398183"/>
                  </a:lnTo>
                  <a:lnTo>
                    <a:pt x="0" y="2398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21926" y="5559045"/>
            <a:ext cx="169490" cy="572033"/>
            <a:chOff x="0" y="0"/>
            <a:chExt cx="53378" cy="1801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378" cy="180152"/>
            </a:xfrm>
            <a:custGeom>
              <a:avLst/>
              <a:gdLst/>
              <a:ahLst/>
              <a:cxnLst/>
              <a:rect r="r" b="b" t="t" l="l"/>
              <a:pathLst>
                <a:path h="180152" w="53378">
                  <a:moveTo>
                    <a:pt x="0" y="0"/>
                  </a:moveTo>
                  <a:lnTo>
                    <a:pt x="53378" y="0"/>
                  </a:lnTo>
                  <a:lnTo>
                    <a:pt x="53378" y="180152"/>
                  </a:lnTo>
                  <a:lnTo>
                    <a:pt x="0" y="180152"/>
                  </a:lnTo>
                  <a:close/>
                </a:path>
              </a:pathLst>
            </a:custGeom>
            <a:gradFill rotWithShape="true">
              <a:gsLst>
                <a:gs pos="0">
                  <a:srgbClr val="F63F8D">
                    <a:alpha val="100000"/>
                  </a:srgbClr>
                </a:gs>
                <a:gs pos="100000">
                  <a:srgbClr val="A521C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53378" cy="2277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73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230413" y="934165"/>
            <a:ext cx="169490" cy="572033"/>
            <a:chOff x="0" y="0"/>
            <a:chExt cx="53378" cy="1801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378" cy="180152"/>
            </a:xfrm>
            <a:custGeom>
              <a:avLst/>
              <a:gdLst/>
              <a:ahLst/>
              <a:cxnLst/>
              <a:rect r="r" b="b" t="t" l="l"/>
              <a:pathLst>
                <a:path h="180152" w="53378">
                  <a:moveTo>
                    <a:pt x="0" y="0"/>
                  </a:moveTo>
                  <a:lnTo>
                    <a:pt x="53378" y="0"/>
                  </a:lnTo>
                  <a:lnTo>
                    <a:pt x="53378" y="180152"/>
                  </a:lnTo>
                  <a:lnTo>
                    <a:pt x="0" y="180152"/>
                  </a:lnTo>
                  <a:close/>
                </a:path>
              </a:pathLst>
            </a:custGeom>
            <a:gradFill rotWithShape="true">
              <a:gsLst>
                <a:gs pos="0">
                  <a:srgbClr val="E65C5C">
                    <a:alpha val="100000"/>
                  </a:srgbClr>
                </a:gs>
                <a:gs pos="100000">
                  <a:srgbClr val="D8404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53378" cy="2277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73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32385" y="934165"/>
            <a:ext cx="164676" cy="572033"/>
            <a:chOff x="0" y="0"/>
            <a:chExt cx="51862" cy="1801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862" cy="180152"/>
            </a:xfrm>
            <a:custGeom>
              <a:avLst/>
              <a:gdLst/>
              <a:ahLst/>
              <a:cxnLst/>
              <a:rect r="r" b="b" t="t" l="l"/>
              <a:pathLst>
                <a:path h="180152" w="51862">
                  <a:moveTo>
                    <a:pt x="0" y="0"/>
                  </a:moveTo>
                  <a:lnTo>
                    <a:pt x="51862" y="0"/>
                  </a:lnTo>
                  <a:lnTo>
                    <a:pt x="51862" y="180152"/>
                  </a:lnTo>
                  <a:lnTo>
                    <a:pt x="0" y="180152"/>
                  </a:lnTo>
                  <a:close/>
                </a:path>
              </a:pathLst>
            </a:custGeom>
            <a:gradFill rotWithShape="true">
              <a:gsLst>
                <a:gs pos="0">
                  <a:srgbClr val="99F84E">
                    <a:alpha val="100000"/>
                  </a:srgbClr>
                </a:gs>
                <a:gs pos="100000">
                  <a:srgbClr val="9FDF01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51862" cy="2277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73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230413" y="5845062"/>
            <a:ext cx="169490" cy="572033"/>
            <a:chOff x="0" y="0"/>
            <a:chExt cx="53378" cy="1801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3378" cy="180152"/>
            </a:xfrm>
            <a:custGeom>
              <a:avLst/>
              <a:gdLst/>
              <a:ahLst/>
              <a:cxnLst/>
              <a:rect r="r" b="b" t="t" l="l"/>
              <a:pathLst>
                <a:path h="180152" w="53378">
                  <a:moveTo>
                    <a:pt x="0" y="0"/>
                  </a:moveTo>
                  <a:lnTo>
                    <a:pt x="53378" y="0"/>
                  </a:lnTo>
                  <a:lnTo>
                    <a:pt x="53378" y="180152"/>
                  </a:lnTo>
                  <a:lnTo>
                    <a:pt x="0" y="180152"/>
                  </a:lnTo>
                  <a:close/>
                </a:path>
              </a:pathLst>
            </a:custGeom>
            <a:gradFill rotWithShape="true">
              <a:gsLst>
                <a:gs pos="0">
                  <a:srgbClr val="BB5AE3">
                    <a:alpha val="100000"/>
                  </a:srgbClr>
                </a:gs>
                <a:gs pos="100000">
                  <a:srgbClr val="5A6CE3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53378" cy="2277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73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574064" y="1506199"/>
            <a:ext cx="2587865" cy="3234831"/>
          </a:xfrm>
          <a:custGeom>
            <a:avLst/>
            <a:gdLst/>
            <a:ahLst/>
            <a:cxnLst/>
            <a:rect r="r" b="b" t="t" l="l"/>
            <a:pathLst>
              <a:path h="3234831" w="2587865">
                <a:moveTo>
                  <a:pt x="0" y="0"/>
                </a:moveTo>
                <a:lnTo>
                  <a:pt x="2587865" y="0"/>
                </a:lnTo>
                <a:lnTo>
                  <a:pt x="2587865" y="3234831"/>
                </a:lnTo>
                <a:lnTo>
                  <a:pt x="0" y="323483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4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766370" y="5901373"/>
            <a:ext cx="4106937" cy="3993996"/>
          </a:xfrm>
          <a:custGeom>
            <a:avLst/>
            <a:gdLst/>
            <a:ahLst/>
            <a:cxnLst/>
            <a:rect r="r" b="b" t="t" l="l"/>
            <a:pathLst>
              <a:path h="3993996" w="4106937">
                <a:moveTo>
                  <a:pt x="0" y="0"/>
                </a:moveTo>
                <a:lnTo>
                  <a:pt x="4106937" y="0"/>
                </a:lnTo>
                <a:lnTo>
                  <a:pt x="4106937" y="3993996"/>
                </a:lnTo>
                <a:lnTo>
                  <a:pt x="0" y="399399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14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3230413" y="1506199"/>
            <a:ext cx="3884414" cy="3446534"/>
          </a:xfrm>
          <a:custGeom>
            <a:avLst/>
            <a:gdLst/>
            <a:ahLst/>
            <a:cxnLst/>
            <a:rect r="r" b="b" t="t" l="l"/>
            <a:pathLst>
              <a:path h="3446534" w="3884414">
                <a:moveTo>
                  <a:pt x="0" y="0"/>
                </a:moveTo>
                <a:lnTo>
                  <a:pt x="3884414" y="0"/>
                </a:lnTo>
                <a:lnTo>
                  <a:pt x="3884414" y="3446534"/>
                </a:lnTo>
                <a:lnTo>
                  <a:pt x="0" y="344653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15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3957595" y="6464567"/>
            <a:ext cx="2430052" cy="3079750"/>
          </a:xfrm>
          <a:custGeom>
            <a:avLst/>
            <a:gdLst/>
            <a:ahLst/>
            <a:cxnLst/>
            <a:rect r="r" b="b" t="t" l="l"/>
            <a:pathLst>
              <a:path h="3079750" w="2430052">
                <a:moveTo>
                  <a:pt x="0" y="0"/>
                </a:moveTo>
                <a:lnTo>
                  <a:pt x="2430051" y="0"/>
                </a:lnTo>
                <a:lnTo>
                  <a:pt x="2430051" y="3079750"/>
                </a:lnTo>
                <a:lnTo>
                  <a:pt x="0" y="307975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15000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1196811" y="1028700"/>
            <a:ext cx="4740163" cy="2267585"/>
            <a:chOff x="0" y="0"/>
            <a:chExt cx="6320217" cy="3023447"/>
          </a:xfrm>
        </p:grpSpPr>
        <p:sp>
          <p:nvSpPr>
            <p:cNvPr name="TextBox 36" id="36"/>
            <p:cNvSpPr txBox="true"/>
            <p:nvPr/>
          </p:nvSpPr>
          <p:spPr>
            <a:xfrm rot="0">
              <a:off x="0" y="-85725"/>
              <a:ext cx="5042523" cy="726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MONGO DB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0" y="980652"/>
              <a:ext cx="6320217" cy="20427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0209" indent="-205105" lvl="1">
                <a:lnSpc>
                  <a:spcPts val="3134"/>
                </a:lnSpc>
                <a:buFont typeface="Arial"/>
                <a:buChar char="•"/>
              </a:pPr>
              <a:r>
                <a:rPr lang="en-US" b="true" sz="18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Documental </a:t>
              </a:r>
            </a:p>
            <a:p>
              <a:pPr algn="l" marL="410209" indent="-205105" lvl="1">
                <a:lnSpc>
                  <a:spcPts val="3134"/>
                </a:lnSpc>
                <a:buFont typeface="Arial"/>
                <a:buChar char="•"/>
              </a:pPr>
              <a:r>
                <a:rPr lang="en-US" b="true" sz="18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JSON/BSON</a:t>
              </a:r>
            </a:p>
            <a:p>
              <a:pPr algn="l" marL="410209" indent="-205105" lvl="1">
                <a:lnSpc>
                  <a:spcPts val="3134"/>
                </a:lnSpc>
                <a:buFont typeface="Arial"/>
                <a:buChar char="•"/>
              </a:pPr>
              <a:r>
                <a:rPr lang="en-US" b="true" sz="18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Esquema flexible para entidades con estructuras diferentes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187730" y="5575300"/>
            <a:ext cx="3781892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NEO4J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57243" y="6511925"/>
            <a:ext cx="4021460" cy="194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3134"/>
              </a:lnSpc>
              <a:buFont typeface="Arial"/>
              <a:buChar char="•"/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Base de g</a:t>
            </a: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rafos </a:t>
            </a:r>
          </a:p>
          <a:p>
            <a:pPr algn="l" marL="410209" indent="-205105" lvl="1">
              <a:lnSpc>
                <a:spcPts val="3134"/>
              </a:lnSpc>
              <a:buFont typeface="Arial"/>
              <a:buChar char="•"/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Almacena y gestionar datos</a:t>
            </a:r>
          </a:p>
          <a:p>
            <a:pPr algn="l" marL="410209" indent="-205105" lvl="1">
              <a:lnSpc>
                <a:spcPts val="3134"/>
              </a:lnSpc>
              <a:buFont typeface="Arial"/>
              <a:buChar char="•"/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Datos conectados</a:t>
            </a:r>
          </a:p>
          <a:p>
            <a:pPr algn="l" marL="410209" indent="-205105" lvl="1">
              <a:lnSpc>
                <a:spcPts val="3134"/>
              </a:lnSpc>
              <a:buFont typeface="Arial"/>
              <a:buChar char="•"/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Relaciones</a:t>
            </a:r>
          </a:p>
          <a:p>
            <a:pPr algn="l" marL="410209" indent="-205105" lvl="1">
              <a:lnSpc>
                <a:spcPts val="3134"/>
              </a:lnSpc>
              <a:buFont typeface="Arial"/>
              <a:buChar char="•"/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Cypher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3477408" y="1028700"/>
            <a:ext cx="4003031" cy="2267585"/>
            <a:chOff x="0" y="0"/>
            <a:chExt cx="5337375" cy="3023447"/>
          </a:xfrm>
        </p:grpSpPr>
        <p:sp>
          <p:nvSpPr>
            <p:cNvPr name="TextBox 41" id="41"/>
            <p:cNvSpPr txBox="true"/>
            <p:nvPr/>
          </p:nvSpPr>
          <p:spPr>
            <a:xfrm rot="0">
              <a:off x="0" y="-85725"/>
              <a:ext cx="5042523" cy="726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REDIS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0" y="980652"/>
              <a:ext cx="5337375" cy="20427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0209" indent="-205105" lvl="1">
                <a:lnSpc>
                  <a:spcPts val="3134"/>
                </a:lnSpc>
                <a:buFont typeface="Arial"/>
                <a:buChar char="•"/>
              </a:pPr>
              <a:r>
                <a:rPr lang="en-US" b="true" sz="18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</a:t>
              </a:r>
              <a:r>
                <a:rPr lang="en-US" b="true" sz="18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lave–valor </a:t>
              </a:r>
            </a:p>
            <a:p>
              <a:pPr algn="l" marL="410209" indent="-205105" lvl="1">
                <a:lnSpc>
                  <a:spcPts val="3134"/>
                </a:lnSpc>
                <a:buFont typeface="Arial"/>
                <a:buChar char="•"/>
              </a:pPr>
              <a:r>
                <a:rPr lang="en-US" b="true" sz="18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in-memory</a:t>
              </a:r>
            </a:p>
            <a:p>
              <a:pPr algn="l" marL="410209" indent="-205105" lvl="1">
                <a:lnSpc>
                  <a:spcPts val="3134"/>
                </a:lnSpc>
                <a:buFont typeface="Arial"/>
                <a:buChar char="•"/>
              </a:pPr>
              <a:r>
                <a:rPr lang="en-US" b="true" sz="18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Estructura de datos</a:t>
              </a:r>
            </a:p>
            <a:p>
              <a:pPr algn="l" marL="410209" indent="-205105" lvl="1">
                <a:lnSpc>
                  <a:spcPts val="3134"/>
                </a:lnSpc>
                <a:buFont typeface="Arial"/>
                <a:buChar char="•"/>
              </a:pPr>
              <a:r>
                <a:rPr lang="en-US" b="true" sz="18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Cache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495153" y="5916802"/>
            <a:ext cx="3781892" cy="2267585"/>
            <a:chOff x="0" y="0"/>
            <a:chExt cx="5042523" cy="3023447"/>
          </a:xfrm>
        </p:grpSpPr>
        <p:sp>
          <p:nvSpPr>
            <p:cNvPr name="TextBox 44" id="44"/>
            <p:cNvSpPr txBox="true"/>
            <p:nvPr/>
          </p:nvSpPr>
          <p:spPr>
            <a:xfrm rot="0">
              <a:off x="0" y="-85725"/>
              <a:ext cx="5042523" cy="726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CASSANDRA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0" y="980652"/>
              <a:ext cx="5042523" cy="20427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0209" indent="-205105" lvl="1">
                <a:lnSpc>
                  <a:spcPts val="3134"/>
                </a:lnSpc>
                <a:buFont typeface="Arial"/>
                <a:buChar char="•"/>
              </a:pPr>
              <a:r>
                <a:rPr lang="en-US" b="true" sz="18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</a:t>
              </a:r>
              <a:r>
                <a:rPr lang="en-US" b="true" sz="18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ide-column </a:t>
              </a:r>
            </a:p>
            <a:p>
              <a:pPr algn="l" marL="410209" indent="-205105" lvl="1">
                <a:lnSpc>
                  <a:spcPts val="3134"/>
                </a:lnSpc>
                <a:buFont typeface="Arial"/>
                <a:buChar char="•"/>
              </a:pPr>
              <a:r>
                <a:rPr lang="en-US" b="true" sz="18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sin maestro (peer to peer)</a:t>
              </a:r>
            </a:p>
            <a:p>
              <a:pPr algn="l" marL="410209" indent="-205105" lvl="1">
                <a:lnSpc>
                  <a:spcPts val="3134"/>
                </a:lnSpc>
                <a:buFont typeface="Arial"/>
                <a:buChar char="•"/>
              </a:pPr>
              <a:r>
                <a:rPr lang="en-US" b="true" sz="18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Distribuida</a:t>
              </a:r>
            </a:p>
            <a:p>
              <a:pPr algn="l" marL="410209" indent="-205105" lvl="1">
                <a:lnSpc>
                  <a:spcPts val="3134"/>
                </a:lnSpc>
                <a:buFont typeface="Arial"/>
                <a:buChar char="•"/>
              </a:pPr>
              <a:r>
                <a:rPr lang="en-US" b="true" sz="18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Consistencia configurable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5611332" y="377274"/>
            <a:ext cx="7065335" cy="1066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4"/>
              </a:lnSpc>
            </a:pPr>
            <a:r>
              <a:rPr lang="en-US" b="true" sz="32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MODELOS IMPLEMENTADOS</a:t>
            </a:r>
          </a:p>
          <a:p>
            <a:pPr algn="ctr">
              <a:lnSpc>
                <a:spcPts val="4174"/>
              </a:lnSpc>
            </a:pPr>
            <a:r>
              <a:rPr lang="en-US" b="true" sz="328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EN EL PROYECTO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8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26644"/>
            <a:ext cx="134987" cy="1566592"/>
            <a:chOff x="0" y="0"/>
            <a:chExt cx="42512" cy="4933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512" cy="493372"/>
            </a:xfrm>
            <a:custGeom>
              <a:avLst/>
              <a:gdLst/>
              <a:ahLst/>
              <a:cxnLst/>
              <a:rect r="r" b="b" t="t" l="l"/>
              <a:pathLst>
                <a:path h="493372" w="42512">
                  <a:moveTo>
                    <a:pt x="0" y="0"/>
                  </a:moveTo>
                  <a:lnTo>
                    <a:pt x="42512" y="0"/>
                  </a:lnTo>
                  <a:lnTo>
                    <a:pt x="42512" y="493372"/>
                  </a:lnTo>
                  <a:lnTo>
                    <a:pt x="0" y="493372"/>
                  </a:lnTo>
                  <a:close/>
                </a:path>
              </a:pathLst>
            </a:custGeom>
            <a:solidFill>
              <a:srgbClr val="01EC6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2512" cy="5409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73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518427"/>
            <a:ext cx="134987" cy="1566592"/>
            <a:chOff x="0" y="0"/>
            <a:chExt cx="42512" cy="4933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512" cy="493372"/>
            </a:xfrm>
            <a:custGeom>
              <a:avLst/>
              <a:gdLst/>
              <a:ahLst/>
              <a:cxnLst/>
              <a:rect r="r" b="b" t="t" l="l"/>
              <a:pathLst>
                <a:path h="493372" w="42512">
                  <a:moveTo>
                    <a:pt x="0" y="0"/>
                  </a:moveTo>
                  <a:lnTo>
                    <a:pt x="42512" y="0"/>
                  </a:lnTo>
                  <a:lnTo>
                    <a:pt x="42512" y="493372"/>
                  </a:lnTo>
                  <a:lnTo>
                    <a:pt x="0" y="493372"/>
                  </a:lnTo>
                  <a:close/>
                </a:path>
              </a:pathLst>
            </a:custGeom>
            <a:gradFill rotWithShape="true">
              <a:gsLst>
                <a:gs pos="0">
                  <a:srgbClr val="E65C5C">
                    <a:alpha val="100000"/>
                  </a:srgbClr>
                </a:gs>
                <a:gs pos="100000">
                  <a:srgbClr val="D8404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2512" cy="5409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73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4310210"/>
            <a:ext cx="134987" cy="1566592"/>
            <a:chOff x="0" y="0"/>
            <a:chExt cx="42512" cy="4933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512" cy="493372"/>
            </a:xfrm>
            <a:custGeom>
              <a:avLst/>
              <a:gdLst/>
              <a:ahLst/>
              <a:cxnLst/>
              <a:rect r="r" b="b" t="t" l="l"/>
              <a:pathLst>
                <a:path h="493372" w="42512">
                  <a:moveTo>
                    <a:pt x="0" y="0"/>
                  </a:moveTo>
                  <a:lnTo>
                    <a:pt x="42512" y="0"/>
                  </a:lnTo>
                  <a:lnTo>
                    <a:pt x="42512" y="493372"/>
                  </a:lnTo>
                  <a:lnTo>
                    <a:pt x="0" y="493372"/>
                  </a:lnTo>
                  <a:close/>
                </a:path>
              </a:pathLst>
            </a:custGeom>
            <a:gradFill rotWithShape="true">
              <a:gsLst>
                <a:gs pos="0">
                  <a:srgbClr val="F63F8D">
                    <a:alpha val="100000"/>
                  </a:srgbClr>
                </a:gs>
                <a:gs pos="100000">
                  <a:srgbClr val="A521C6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2512" cy="5409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73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6150948"/>
            <a:ext cx="134987" cy="1566592"/>
            <a:chOff x="0" y="0"/>
            <a:chExt cx="42512" cy="4933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512" cy="493372"/>
            </a:xfrm>
            <a:custGeom>
              <a:avLst/>
              <a:gdLst/>
              <a:ahLst/>
              <a:cxnLst/>
              <a:rect r="r" b="b" t="t" l="l"/>
              <a:pathLst>
                <a:path h="493372" w="42512">
                  <a:moveTo>
                    <a:pt x="0" y="0"/>
                  </a:moveTo>
                  <a:lnTo>
                    <a:pt x="42512" y="0"/>
                  </a:lnTo>
                  <a:lnTo>
                    <a:pt x="42512" y="493372"/>
                  </a:lnTo>
                  <a:lnTo>
                    <a:pt x="0" y="493372"/>
                  </a:lnTo>
                  <a:close/>
                </a:path>
              </a:pathLst>
            </a:custGeom>
            <a:gradFill rotWithShape="true">
              <a:gsLst>
                <a:gs pos="0">
                  <a:srgbClr val="5C67E6">
                    <a:alpha val="100000"/>
                  </a:srgbClr>
                </a:gs>
                <a:gs pos="100000">
                  <a:srgbClr val="40D8B4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2512" cy="5409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73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7993764"/>
            <a:ext cx="134987" cy="1566592"/>
            <a:chOff x="0" y="0"/>
            <a:chExt cx="42512" cy="4933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512" cy="493372"/>
            </a:xfrm>
            <a:custGeom>
              <a:avLst/>
              <a:gdLst/>
              <a:ahLst/>
              <a:cxnLst/>
              <a:rect r="r" b="b" t="t" l="l"/>
              <a:pathLst>
                <a:path h="493372" w="42512">
                  <a:moveTo>
                    <a:pt x="0" y="0"/>
                  </a:moveTo>
                  <a:lnTo>
                    <a:pt x="42512" y="0"/>
                  </a:lnTo>
                  <a:lnTo>
                    <a:pt x="42512" y="493372"/>
                  </a:lnTo>
                  <a:lnTo>
                    <a:pt x="0" y="493372"/>
                  </a:lnTo>
                  <a:close/>
                </a:path>
              </a:pathLst>
            </a:custGeom>
            <a:gradFill rotWithShape="true">
              <a:gsLst>
                <a:gs pos="0">
                  <a:srgbClr val="5C67E6">
                    <a:alpha val="100000"/>
                  </a:srgbClr>
                </a:gs>
                <a:gs pos="100000">
                  <a:srgbClr val="40D8B4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2512" cy="5409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73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2091822" y="1827070"/>
            <a:ext cx="7029345" cy="6250149"/>
          </a:xfrm>
          <a:custGeom>
            <a:avLst/>
            <a:gdLst/>
            <a:ahLst/>
            <a:cxnLst/>
            <a:rect r="r" b="b" t="t" l="l"/>
            <a:pathLst>
              <a:path h="6250149" w="7029345">
                <a:moveTo>
                  <a:pt x="0" y="0"/>
                </a:moveTo>
                <a:lnTo>
                  <a:pt x="7029345" y="0"/>
                </a:lnTo>
                <a:lnTo>
                  <a:pt x="7029345" y="6250148"/>
                </a:lnTo>
                <a:lnTo>
                  <a:pt x="0" y="62501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10800000">
            <a:off x="14253805" y="3848803"/>
            <a:ext cx="2705379" cy="2589393"/>
          </a:xfrm>
          <a:custGeom>
            <a:avLst/>
            <a:gdLst/>
            <a:ahLst/>
            <a:cxnLst/>
            <a:rect r="r" b="b" t="t" l="l"/>
            <a:pathLst>
              <a:path h="2589393" w="2705379">
                <a:moveTo>
                  <a:pt x="0" y="0"/>
                </a:moveTo>
                <a:lnTo>
                  <a:pt x="2705379" y="0"/>
                </a:lnTo>
                <a:lnTo>
                  <a:pt x="2705379" y="2589394"/>
                </a:lnTo>
                <a:lnTo>
                  <a:pt x="0" y="25893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287510" y="698069"/>
            <a:ext cx="5326457" cy="35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171" spc="225">
                <a:gradFill>
                  <a:gsLst>
                    <a:gs pos="0">
                      <a:srgbClr val="99F84E">
                        <a:alpha val="100000"/>
                      </a:srgbClr>
                    </a:gs>
                    <a:gs pos="100000">
                      <a:srgbClr val="9FDF01">
                        <a:alpha val="100000"/>
                      </a:srgbClr>
                    </a:gs>
                  </a:gsLst>
                  <a:lin ang="2700000"/>
                </a:gradFill>
                <a:latin typeface="Gotham Heavy"/>
                <a:ea typeface="Gotham Heavy"/>
                <a:cs typeface="Gotham Heavy"/>
                <a:sym typeface="Gotham Heavy"/>
              </a:rPr>
              <a:t>Requerimiento 01 | MongoDB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87510" y="2489852"/>
            <a:ext cx="4705695" cy="35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171" spc="225">
                <a:solidFill>
                  <a:srgbClr val="C6302B"/>
                </a:solidFill>
                <a:latin typeface="Gotham Heavy"/>
                <a:ea typeface="Gotham Heavy"/>
                <a:cs typeface="Gotham Heavy"/>
                <a:sym typeface="Gotham Heavy"/>
              </a:rPr>
              <a:t>Requerimiento 02 | REDIS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87510" y="4281635"/>
            <a:ext cx="5517460" cy="35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171" spc="225">
                <a:solidFill>
                  <a:srgbClr val="E53999"/>
                </a:solidFill>
                <a:latin typeface="Gotham Heavy"/>
                <a:ea typeface="Gotham Heavy"/>
                <a:cs typeface="Gotham Heavy"/>
                <a:sym typeface="Gotham Heavy"/>
              </a:rPr>
              <a:t>Requerimiento 03 | Neo4j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97035" y="6122373"/>
            <a:ext cx="5326457" cy="35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171" spc="225">
                <a:solidFill>
                  <a:srgbClr val="49B1C5"/>
                </a:solidFill>
                <a:latin typeface="Gotham Heavy"/>
                <a:ea typeface="Gotham Heavy"/>
                <a:cs typeface="Gotham Heavy"/>
                <a:sym typeface="Gotham Heavy"/>
              </a:rPr>
              <a:t>Requerimiento 04 - Cassandra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87510" y="7965189"/>
            <a:ext cx="5326457" cy="35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171" spc="225">
                <a:solidFill>
                  <a:srgbClr val="49B1C5"/>
                </a:solidFill>
                <a:latin typeface="Gotham Heavy"/>
                <a:ea typeface="Gotham Heavy"/>
                <a:cs typeface="Gotham Heavy"/>
                <a:sym typeface="Gotham Heavy"/>
              </a:rPr>
              <a:t>Requerimiento 05 – Cassandra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66016" y="1261127"/>
            <a:ext cx="10051287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egistro académico oficial: guardar la nota original y sus metadatos (estructura flexible) para consulta y trazabilidad del legajo.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66016" y="3105115"/>
            <a:ext cx="10378511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Conversión/normalización: gestionar reglas de conversión versionadas y recuperarlas rápido para aplicar la regla vigente sin recalcular todo.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66016" y="4847369"/>
            <a:ext cx="1154424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Relaciones complejas: modelar equivalencias entre materias y calcular trayectorias/caminos (paths) entre planes/sistemas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66016" y="8464248"/>
            <a:ext cx="10378511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Auditoría y trazabilidad: registrar eventos en modo append-only para reconstruir el timeline completo de cambios/versiones.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66016" y="6621432"/>
            <a:ext cx="10625806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Reportes históricos: generar reportes agregados (por período/institución/país) sobre volumen grande de datos con buena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C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26644"/>
            <a:ext cx="8897969" cy="671242"/>
            <a:chOff x="0" y="0"/>
            <a:chExt cx="11863958" cy="89498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79983" cy="894989"/>
              <a:chOff x="0" y="0"/>
              <a:chExt cx="42512" cy="2113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2512" cy="211396"/>
              </a:xfrm>
              <a:custGeom>
                <a:avLst/>
                <a:gdLst/>
                <a:ahLst/>
                <a:cxnLst/>
                <a:rect r="r" b="b" t="t" l="l"/>
                <a:pathLst>
                  <a:path h="211396" w="42512">
                    <a:moveTo>
                      <a:pt x="0" y="0"/>
                    </a:moveTo>
                    <a:lnTo>
                      <a:pt x="42512" y="0"/>
                    </a:lnTo>
                    <a:lnTo>
                      <a:pt x="42512" y="211396"/>
                    </a:lnTo>
                    <a:lnTo>
                      <a:pt x="0" y="211396"/>
                    </a:lnTo>
                    <a:close/>
                  </a:path>
                </a:pathLst>
              </a:custGeom>
              <a:solidFill>
                <a:srgbClr val="99F84E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2512" cy="25902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73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345079" y="-28575"/>
              <a:ext cx="11518879" cy="4653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171" spc="225">
                  <a:gradFill>
                    <a:gsLst>
                      <a:gs pos="0">
                        <a:srgbClr val="99F84E">
                          <a:alpha val="100000"/>
                        </a:srgbClr>
                      </a:gs>
                      <a:gs pos="100000">
                        <a:srgbClr val="9FDF01">
                          <a:alpha val="100000"/>
                        </a:srgbClr>
                      </a:gs>
                    </a:gsLst>
                    <a:lin ang="2700000"/>
                  </a:gradFill>
                  <a:latin typeface="Gotham Bold"/>
                  <a:ea typeface="Gotham Bold"/>
                  <a:cs typeface="Gotham Bold"/>
                  <a:sym typeface="Gotham Bold"/>
                </a:rPr>
                <a:t>RF-01 |  Registro Académico 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430044" y="1168630"/>
            <a:ext cx="599448" cy="749309"/>
          </a:xfrm>
          <a:custGeom>
            <a:avLst/>
            <a:gdLst/>
            <a:ahLst/>
            <a:cxnLst/>
            <a:rect r="r" b="b" t="t" l="l"/>
            <a:pathLst>
              <a:path h="749309" w="599448">
                <a:moveTo>
                  <a:pt x="0" y="0"/>
                </a:moveTo>
                <a:lnTo>
                  <a:pt x="599448" y="0"/>
                </a:lnTo>
                <a:lnTo>
                  <a:pt x="599448" y="749309"/>
                </a:lnTo>
                <a:lnTo>
                  <a:pt x="0" y="7493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144000" y="2629744"/>
            <a:ext cx="49102" cy="598393"/>
            <a:chOff x="0" y="0"/>
            <a:chExt cx="12932" cy="15760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932" cy="157601"/>
            </a:xfrm>
            <a:custGeom>
              <a:avLst/>
              <a:gdLst/>
              <a:ahLst/>
              <a:cxnLst/>
              <a:rect r="r" b="b" t="t" l="l"/>
              <a:pathLst>
                <a:path h="157601" w="12932">
                  <a:moveTo>
                    <a:pt x="0" y="0"/>
                  </a:moveTo>
                  <a:lnTo>
                    <a:pt x="12932" y="0"/>
                  </a:lnTo>
                  <a:lnTo>
                    <a:pt x="12932" y="157601"/>
                  </a:lnTo>
                  <a:lnTo>
                    <a:pt x="0" y="157601"/>
                  </a:lnTo>
                  <a:close/>
                </a:path>
              </a:pathLst>
            </a:custGeom>
            <a:gradFill rotWithShape="true">
              <a:gsLst>
                <a:gs pos="0">
                  <a:srgbClr val="99F84E">
                    <a:alpha val="100000"/>
                  </a:srgbClr>
                </a:gs>
                <a:gs pos="100000">
                  <a:srgbClr val="9FDF0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932" cy="195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0" y="4525665"/>
            <a:ext cx="49102" cy="598393"/>
            <a:chOff x="0" y="0"/>
            <a:chExt cx="12932" cy="157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932" cy="157601"/>
            </a:xfrm>
            <a:custGeom>
              <a:avLst/>
              <a:gdLst/>
              <a:ahLst/>
              <a:cxnLst/>
              <a:rect r="r" b="b" t="t" l="l"/>
              <a:pathLst>
                <a:path h="157601" w="12932">
                  <a:moveTo>
                    <a:pt x="0" y="0"/>
                  </a:moveTo>
                  <a:lnTo>
                    <a:pt x="12932" y="0"/>
                  </a:lnTo>
                  <a:lnTo>
                    <a:pt x="12932" y="157601"/>
                  </a:lnTo>
                  <a:lnTo>
                    <a:pt x="0" y="157601"/>
                  </a:lnTo>
                  <a:close/>
                </a:path>
              </a:pathLst>
            </a:custGeom>
            <a:gradFill rotWithShape="true">
              <a:gsLst>
                <a:gs pos="0">
                  <a:srgbClr val="99F84E">
                    <a:alpha val="100000"/>
                  </a:srgbClr>
                </a:gs>
                <a:gs pos="100000">
                  <a:srgbClr val="9FDF0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932" cy="195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0" y="6962383"/>
            <a:ext cx="49102" cy="598393"/>
            <a:chOff x="0" y="0"/>
            <a:chExt cx="12932" cy="1576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932" cy="157601"/>
            </a:xfrm>
            <a:custGeom>
              <a:avLst/>
              <a:gdLst/>
              <a:ahLst/>
              <a:cxnLst/>
              <a:rect r="r" b="b" t="t" l="l"/>
              <a:pathLst>
                <a:path h="157601" w="12932">
                  <a:moveTo>
                    <a:pt x="0" y="0"/>
                  </a:moveTo>
                  <a:lnTo>
                    <a:pt x="12932" y="0"/>
                  </a:lnTo>
                  <a:lnTo>
                    <a:pt x="12932" y="157601"/>
                  </a:lnTo>
                  <a:lnTo>
                    <a:pt x="0" y="157601"/>
                  </a:lnTo>
                  <a:close/>
                </a:path>
              </a:pathLst>
            </a:custGeom>
            <a:gradFill rotWithShape="true">
              <a:gsLst>
                <a:gs pos="0">
                  <a:srgbClr val="99F84E">
                    <a:alpha val="100000"/>
                  </a:srgbClr>
                </a:gs>
                <a:gs pos="100000">
                  <a:srgbClr val="9FDF0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932" cy="195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994721" y="-968638"/>
            <a:ext cx="4605088" cy="2645832"/>
          </a:xfrm>
          <a:custGeom>
            <a:avLst/>
            <a:gdLst/>
            <a:ahLst/>
            <a:cxnLst/>
            <a:rect r="r" b="b" t="t" l="l"/>
            <a:pathLst>
              <a:path h="2645832" w="4605088">
                <a:moveTo>
                  <a:pt x="0" y="0"/>
                </a:moveTo>
                <a:lnTo>
                  <a:pt x="4605088" y="0"/>
                </a:lnTo>
                <a:lnTo>
                  <a:pt x="4605088" y="2645832"/>
                </a:lnTo>
                <a:lnTo>
                  <a:pt x="0" y="26458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1729768" y="3072559"/>
            <a:ext cx="5151357" cy="5217765"/>
          </a:xfrm>
          <a:custGeom>
            <a:avLst/>
            <a:gdLst/>
            <a:ahLst/>
            <a:cxnLst/>
            <a:rect r="r" b="b" t="t" l="l"/>
            <a:pathLst>
              <a:path h="5217765" w="5151357">
                <a:moveTo>
                  <a:pt x="0" y="0"/>
                </a:moveTo>
                <a:lnTo>
                  <a:pt x="5151357" y="0"/>
                </a:lnTo>
                <a:lnTo>
                  <a:pt x="5151357" y="5217764"/>
                </a:lnTo>
                <a:lnTo>
                  <a:pt x="0" y="52177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320158" y="1361750"/>
            <a:ext cx="9238942" cy="315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4"/>
              </a:lnSpc>
              <a:spcBef>
                <a:spcPct val="0"/>
              </a:spcBef>
            </a:pPr>
            <a:r>
              <a:rPr lang="en-US" b="true" sz="176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DB ⟶ MongoDB - Documental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85069" y="2241934"/>
            <a:ext cx="8285835" cy="1244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2"/>
              </a:lnSpc>
            </a:pPr>
            <a:r>
              <a:rPr lang="en-US" sz="2530" b="true">
                <a:gradFill>
                  <a:gsLst>
                    <a:gs pos="0">
                      <a:srgbClr val="99F84E">
                        <a:alpha val="100000"/>
                      </a:srgbClr>
                    </a:gs>
                    <a:gs pos="100000">
                      <a:srgbClr val="9FDF01">
                        <a:alpha val="100000"/>
                      </a:srgbClr>
                    </a:gs>
                  </a:gsLst>
                  <a:lin ang="2700000"/>
                </a:gradFill>
                <a:latin typeface="Poppins Bold"/>
                <a:ea typeface="Poppins Bold"/>
                <a:cs typeface="Poppins Bold"/>
                <a:sym typeface="Poppins Bold"/>
              </a:rPr>
              <a:t>CAP ⟶ CP:   </a:t>
            </a:r>
          </a:p>
          <a:p>
            <a:pPr algn="l">
              <a:lnSpc>
                <a:spcPts val="3122"/>
              </a:lnSpc>
              <a:spcBef>
                <a:spcPct val="0"/>
              </a:spcBef>
            </a:pPr>
            <a:r>
              <a:rPr lang="en-US" sz="22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 p</a:t>
            </a:r>
            <a:r>
              <a:rPr lang="en-US" sz="22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rioriza consistencia; ante fallas de red se sacrifica disponibilidad de escritura para proteger el registro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94722" y="3942593"/>
            <a:ext cx="7665688" cy="1634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2"/>
              </a:lnSpc>
            </a:pPr>
            <a:r>
              <a:rPr lang="en-US" sz="2530" b="true">
                <a:gradFill>
                  <a:gsLst>
                    <a:gs pos="0">
                      <a:srgbClr val="99F84E">
                        <a:alpha val="100000"/>
                      </a:srgbClr>
                    </a:gs>
                    <a:gs pos="100000">
                      <a:srgbClr val="9FDF01">
                        <a:alpha val="100000"/>
                      </a:srgbClr>
                    </a:gs>
                  </a:gsLst>
                  <a:lin ang="2700000"/>
                </a:gradFill>
                <a:latin typeface="Poppins Bold"/>
                <a:ea typeface="Poppins Bold"/>
                <a:cs typeface="Poppins Bold"/>
                <a:sym typeface="Poppins Bold"/>
              </a:rPr>
              <a:t>Pros:  </a:t>
            </a:r>
          </a:p>
          <a:p>
            <a:pPr algn="l" marL="481468" indent="-240734" lvl="1">
              <a:lnSpc>
                <a:spcPts val="3122"/>
              </a:lnSpc>
              <a:buFont typeface="Arial"/>
              <a:buChar char="•"/>
            </a:pPr>
            <a:r>
              <a:rPr lang="en-US" sz="22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Flexibilidad  para distintos formatos de examen</a:t>
            </a:r>
          </a:p>
          <a:p>
            <a:pPr algn="l" marL="481468" indent="-240734" lvl="1">
              <a:lnSpc>
                <a:spcPts val="3122"/>
              </a:lnSpc>
              <a:buFont typeface="Arial"/>
              <a:buChar char="•"/>
            </a:pPr>
            <a:r>
              <a:rPr lang="en-US" sz="22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Lecturas rápidas con docs embebidos </a:t>
            </a:r>
          </a:p>
          <a:p>
            <a:pPr algn="l" marL="481468" indent="-240734" lvl="1">
              <a:lnSpc>
                <a:spcPts val="3122"/>
              </a:lnSpc>
              <a:buFont typeface="Arial"/>
              <a:buChar char="•"/>
            </a:pPr>
            <a:r>
              <a:rPr lang="en-US" sz="22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Escalabilidad mediante particionamiento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94722" y="6015739"/>
            <a:ext cx="7864578" cy="247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3"/>
              </a:lnSpc>
            </a:pPr>
            <a:r>
              <a:rPr lang="en-US" sz="2553" b="true">
                <a:gradFill>
                  <a:gsLst>
                    <a:gs pos="0">
                      <a:srgbClr val="99F84E">
                        <a:alpha val="100000"/>
                      </a:srgbClr>
                    </a:gs>
                    <a:gs pos="100000">
                      <a:srgbClr val="9FDF01">
                        <a:alpha val="100000"/>
                      </a:srgbClr>
                    </a:gs>
                  </a:gsLst>
                  <a:lin ang="2700000"/>
                </a:gradFill>
                <a:latin typeface="Poppins Bold"/>
                <a:ea typeface="Poppins Bold"/>
                <a:cs typeface="Poppins Bold"/>
                <a:sym typeface="Poppins Bold"/>
              </a:rPr>
              <a:t>Contras: </a:t>
            </a:r>
          </a:p>
          <a:p>
            <a:pPr algn="l" marL="508215" indent="-254107" lvl="1">
              <a:lnSpc>
                <a:spcPts val="3883"/>
              </a:lnSpc>
              <a:buFont typeface="Arial"/>
              <a:buChar char="•"/>
            </a:pPr>
            <a:r>
              <a:rPr lang="en-US" sz="23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Mayor consumo de disco por repeticion de nombres de campos.</a:t>
            </a:r>
          </a:p>
          <a:p>
            <a:pPr algn="l" marL="508215" indent="-254107" lvl="1">
              <a:lnSpc>
                <a:spcPts val="3883"/>
              </a:lnSpc>
              <a:buFont typeface="Arial"/>
              <a:buChar char="•"/>
            </a:pPr>
            <a:r>
              <a:rPr lang="en-US" sz="23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Complejidad en transacciones que afectan documentos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C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657962">
            <a:off x="8057862" y="-3081455"/>
            <a:ext cx="10835856" cy="4481372"/>
          </a:xfrm>
          <a:custGeom>
            <a:avLst/>
            <a:gdLst/>
            <a:ahLst/>
            <a:cxnLst/>
            <a:rect r="r" b="b" t="t" l="l"/>
            <a:pathLst>
              <a:path h="4481372" w="10835856">
                <a:moveTo>
                  <a:pt x="0" y="4481371"/>
                </a:moveTo>
                <a:lnTo>
                  <a:pt x="10835856" y="4481371"/>
                </a:lnTo>
                <a:lnTo>
                  <a:pt x="10835856" y="0"/>
                </a:lnTo>
                <a:lnTo>
                  <a:pt x="0" y="0"/>
                </a:lnTo>
                <a:lnTo>
                  <a:pt x="0" y="448137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9293216">
            <a:off x="9736113" y="8327186"/>
            <a:ext cx="11440617" cy="4731482"/>
          </a:xfrm>
          <a:custGeom>
            <a:avLst/>
            <a:gdLst/>
            <a:ahLst/>
            <a:cxnLst/>
            <a:rect r="r" b="b" t="t" l="l"/>
            <a:pathLst>
              <a:path h="4731482" w="11440617">
                <a:moveTo>
                  <a:pt x="11440616" y="4731481"/>
                </a:moveTo>
                <a:lnTo>
                  <a:pt x="0" y="4731481"/>
                </a:lnTo>
                <a:lnTo>
                  <a:pt x="0" y="0"/>
                </a:lnTo>
                <a:lnTo>
                  <a:pt x="11440616" y="0"/>
                </a:lnTo>
                <a:lnTo>
                  <a:pt x="11440616" y="4731481"/>
                </a:lnTo>
                <a:close/>
              </a:path>
            </a:pathLst>
          </a:custGeom>
          <a:blipFill>
            <a:blip r:embed="rId4">
              <a:alphaModFix amt="5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726644"/>
            <a:ext cx="8897969" cy="671242"/>
            <a:chOff x="0" y="0"/>
            <a:chExt cx="11863958" cy="89498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79983" cy="894989"/>
              <a:chOff x="0" y="0"/>
              <a:chExt cx="42512" cy="211396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2512" cy="211396"/>
              </a:xfrm>
              <a:custGeom>
                <a:avLst/>
                <a:gdLst/>
                <a:ahLst/>
                <a:cxnLst/>
                <a:rect r="r" b="b" t="t" l="l"/>
                <a:pathLst>
                  <a:path h="211396" w="42512">
                    <a:moveTo>
                      <a:pt x="0" y="0"/>
                    </a:moveTo>
                    <a:lnTo>
                      <a:pt x="42512" y="0"/>
                    </a:lnTo>
                    <a:lnTo>
                      <a:pt x="42512" y="211396"/>
                    </a:lnTo>
                    <a:lnTo>
                      <a:pt x="0" y="211396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99F84E">
                      <a:alpha val="100000"/>
                    </a:srgbClr>
                  </a:gs>
                  <a:gs pos="100000">
                    <a:srgbClr val="9FDF01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42512" cy="25902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73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345079" y="-28575"/>
              <a:ext cx="11518879" cy="4653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171" spc="225">
                  <a:gradFill>
                    <a:gsLst>
                      <a:gs pos="0">
                        <a:srgbClr val="99F84E">
                          <a:alpha val="100000"/>
                        </a:srgbClr>
                      </a:gs>
                      <a:gs pos="100000">
                        <a:srgbClr val="9FDF01">
                          <a:alpha val="100000"/>
                        </a:srgbClr>
                      </a:gs>
                    </a:gsLst>
                    <a:lin ang="2700000"/>
                  </a:gradFill>
                  <a:latin typeface="Gotham Bold"/>
                  <a:ea typeface="Gotham Bold"/>
                  <a:cs typeface="Gotham Bold"/>
                  <a:sym typeface="Gotham Bold"/>
                </a:rPr>
                <a:t>RF-01 |  Registro Académico 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53697" y="3241040"/>
            <a:ext cx="152260" cy="152260"/>
          </a:xfrm>
          <a:custGeom>
            <a:avLst/>
            <a:gdLst/>
            <a:ahLst/>
            <a:cxnLst/>
            <a:rect r="r" b="b" t="t" l="l"/>
            <a:pathLst>
              <a:path h="152260" w="152260">
                <a:moveTo>
                  <a:pt x="0" y="0"/>
                </a:moveTo>
                <a:lnTo>
                  <a:pt x="152260" y="0"/>
                </a:lnTo>
                <a:lnTo>
                  <a:pt x="152260" y="152260"/>
                </a:lnTo>
                <a:lnTo>
                  <a:pt x="0" y="1522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53697" y="4509142"/>
            <a:ext cx="152260" cy="152260"/>
          </a:xfrm>
          <a:custGeom>
            <a:avLst/>
            <a:gdLst/>
            <a:ahLst/>
            <a:cxnLst/>
            <a:rect r="r" b="b" t="t" l="l"/>
            <a:pathLst>
              <a:path h="152260" w="152260">
                <a:moveTo>
                  <a:pt x="0" y="0"/>
                </a:moveTo>
                <a:lnTo>
                  <a:pt x="152260" y="0"/>
                </a:lnTo>
                <a:lnTo>
                  <a:pt x="152260" y="152259"/>
                </a:lnTo>
                <a:lnTo>
                  <a:pt x="0" y="1522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53697" y="6227322"/>
            <a:ext cx="152260" cy="152260"/>
          </a:xfrm>
          <a:custGeom>
            <a:avLst/>
            <a:gdLst/>
            <a:ahLst/>
            <a:cxnLst/>
            <a:rect r="r" b="b" t="t" l="l"/>
            <a:pathLst>
              <a:path h="152260" w="152260">
                <a:moveTo>
                  <a:pt x="0" y="0"/>
                </a:moveTo>
                <a:lnTo>
                  <a:pt x="152260" y="0"/>
                </a:lnTo>
                <a:lnTo>
                  <a:pt x="152260" y="152259"/>
                </a:lnTo>
                <a:lnTo>
                  <a:pt x="0" y="1522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427295" y="4217911"/>
            <a:ext cx="152260" cy="152260"/>
          </a:xfrm>
          <a:custGeom>
            <a:avLst/>
            <a:gdLst/>
            <a:ahLst/>
            <a:cxnLst/>
            <a:rect r="r" b="b" t="t" l="l"/>
            <a:pathLst>
              <a:path h="152260" w="152260">
                <a:moveTo>
                  <a:pt x="0" y="0"/>
                </a:moveTo>
                <a:lnTo>
                  <a:pt x="152259" y="0"/>
                </a:lnTo>
                <a:lnTo>
                  <a:pt x="152259" y="152260"/>
                </a:lnTo>
                <a:lnTo>
                  <a:pt x="0" y="1522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427295" y="5386767"/>
            <a:ext cx="152260" cy="152260"/>
          </a:xfrm>
          <a:custGeom>
            <a:avLst/>
            <a:gdLst/>
            <a:ahLst/>
            <a:cxnLst/>
            <a:rect r="r" b="b" t="t" l="l"/>
            <a:pathLst>
              <a:path h="152260" w="152260">
                <a:moveTo>
                  <a:pt x="0" y="0"/>
                </a:moveTo>
                <a:lnTo>
                  <a:pt x="152259" y="0"/>
                </a:lnTo>
                <a:lnTo>
                  <a:pt x="152259" y="152259"/>
                </a:lnTo>
                <a:lnTo>
                  <a:pt x="0" y="1522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53697" y="2252895"/>
            <a:ext cx="7012541" cy="57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b="true" sz="3999" spc="79">
                <a:gradFill>
                  <a:gsLst>
                    <a:gs pos="0">
                      <a:srgbClr val="99F84E">
                        <a:alpha val="100000"/>
                      </a:srgbClr>
                    </a:gs>
                    <a:gs pos="100000">
                      <a:srgbClr val="9FDF01">
                        <a:alpha val="100000"/>
                      </a:srgbClr>
                    </a:gs>
                  </a:gsLst>
                  <a:lin ang="2700000"/>
                </a:gradFill>
                <a:latin typeface="Gotham Bold"/>
                <a:ea typeface="Gotham Bold"/>
                <a:cs typeface="Gotham Bold"/>
                <a:sym typeface="Gotham Bold"/>
              </a:rPr>
              <a:t>Trade-off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66279" y="3039206"/>
            <a:ext cx="7120854" cy="4559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6"/>
              </a:lnSpc>
            </a:pPr>
            <a:r>
              <a:rPr lang="en-US" sz="202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Seguridad vs Disponibilidad</a:t>
            </a:r>
          </a:p>
          <a:p>
            <a:pPr algn="l">
              <a:lnSpc>
                <a:spcPts val="3446"/>
              </a:lnSpc>
            </a:pPr>
            <a:r>
              <a:rPr lang="en-US" sz="20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“Rechazar carga” antes que “dato dudoso”.</a:t>
            </a:r>
          </a:p>
          <a:p>
            <a:pPr algn="l">
              <a:lnSpc>
                <a:spcPts val="3446"/>
              </a:lnSpc>
            </a:pPr>
          </a:p>
          <a:p>
            <a:pPr algn="l">
              <a:lnSpc>
                <a:spcPts val="3446"/>
              </a:lnSpc>
            </a:pPr>
            <a:r>
              <a:rPr lang="en-US" b="true" sz="202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Velocidad vs Normalización</a:t>
            </a:r>
          </a:p>
          <a:p>
            <a:pPr algn="l">
              <a:lnSpc>
                <a:spcPts val="3446"/>
              </a:lnSpc>
            </a:pPr>
            <a:r>
              <a:rPr lang="en-US" sz="20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Desnormalización: guardar nombre de materia + nota → lectura rápida / actualizar nombres cuesta.</a:t>
            </a:r>
          </a:p>
          <a:p>
            <a:pPr algn="l">
              <a:lnSpc>
                <a:spcPts val="3446"/>
              </a:lnSpc>
            </a:pPr>
          </a:p>
          <a:p>
            <a:pPr algn="l">
              <a:lnSpc>
                <a:spcPts val="3446"/>
              </a:lnSpc>
            </a:pPr>
            <a:r>
              <a:rPr lang="en-US" b="true" sz="202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Particionamiento </a:t>
            </a:r>
          </a:p>
          <a:p>
            <a:pPr algn="l">
              <a:lnSpc>
                <a:spcPts val="2959"/>
              </a:lnSpc>
            </a:pPr>
            <a:r>
              <a:rPr lang="en-US" sz="20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Hashed Sharding: student_id → distribución uniforme evitando hotspots.</a:t>
            </a:r>
          </a:p>
          <a:p>
            <a:pPr algn="l">
              <a:lnSpc>
                <a:spcPts val="295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153697" y="7065381"/>
            <a:ext cx="4354473" cy="2508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4"/>
              </a:lnSpc>
            </a:pPr>
          </a:p>
          <a:p>
            <a:pPr algn="l">
              <a:lnSpc>
                <a:spcPts val="6379"/>
              </a:lnSpc>
            </a:pPr>
            <a:r>
              <a:rPr lang="en-US" sz="3866" b="true">
                <a:gradFill>
                  <a:gsLst>
                    <a:gs pos="0">
                      <a:srgbClr val="99F84E">
                        <a:alpha val="100000"/>
                      </a:srgbClr>
                    </a:gs>
                    <a:gs pos="100000">
                      <a:srgbClr val="9FDF01">
                        <a:alpha val="100000"/>
                      </a:srgbClr>
                    </a:gs>
                  </a:gsLst>
                  <a:lin ang="2700000"/>
                </a:gradFill>
                <a:latin typeface="Gotham Bold"/>
                <a:ea typeface="Gotham Bold"/>
                <a:cs typeface="Gotham Bold"/>
                <a:sym typeface="Gotham Bold"/>
              </a:rPr>
              <a:t>N-R-W</a:t>
            </a:r>
          </a:p>
          <a:p>
            <a:pPr algn="l">
              <a:lnSpc>
                <a:spcPts val="4564"/>
              </a:lnSpc>
              <a:spcBef>
                <a:spcPct val="0"/>
              </a:spcBef>
            </a:pPr>
            <a:r>
              <a:rPr lang="en-US" b="true" sz="276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 ⟶  </a:t>
            </a:r>
            <a:r>
              <a:rPr lang="en-US" sz="27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r>
              <a:rPr lang="en-US" b="true" sz="276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,    R ⟶  </a:t>
            </a:r>
            <a:r>
              <a:rPr lang="en-US" sz="27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lang="en-US" b="true" sz="276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,      W ⟶  </a:t>
            </a:r>
            <a:r>
              <a:rPr lang="en-US" sz="27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</a:p>
          <a:p>
            <a:pPr algn="l">
              <a:lnSpc>
                <a:spcPts val="4564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9827809" y="3992073"/>
            <a:ext cx="7716367" cy="2339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4"/>
              </a:lnSpc>
            </a:pPr>
            <a:r>
              <a:rPr lang="en-US" sz="18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Escalamiento Horizontal :</a:t>
            </a:r>
          </a:p>
          <a:p>
            <a:pPr algn="l">
              <a:lnSpc>
                <a:spcPts val="3134"/>
              </a:lnSpc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ube de 1M a 10M registros: agregar shards/servidores al clúster</a:t>
            </a:r>
          </a:p>
          <a:p>
            <a:pPr algn="l">
              <a:lnSpc>
                <a:spcPts val="3134"/>
              </a:lnSpc>
            </a:pPr>
          </a:p>
          <a:p>
            <a:pPr algn="l">
              <a:lnSpc>
                <a:spcPts val="3134"/>
              </a:lnSpc>
            </a:pPr>
            <a:r>
              <a:rPr lang="en-US" sz="18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Balanceo automático: </a:t>
            </a:r>
          </a:p>
          <a:p>
            <a:pPr algn="l">
              <a:lnSpc>
                <a:spcPts val="3134"/>
              </a:lnSpc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MongoDB rebalancea chunks sin interrumpir servicio</a:t>
            </a:r>
          </a:p>
          <a:p>
            <a:pPr algn="ctr">
              <a:lnSpc>
                <a:spcPts val="3134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9579554" y="3203112"/>
            <a:ext cx="6683211" cy="585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4"/>
              </a:lnSpc>
            </a:pPr>
            <a:r>
              <a:rPr lang="en-US" b="true" sz="4040" spc="80">
                <a:gradFill>
                  <a:gsLst>
                    <a:gs pos="0">
                      <a:srgbClr val="99F84E">
                        <a:alpha val="100000"/>
                      </a:srgbClr>
                    </a:gs>
                    <a:gs pos="100000">
                      <a:srgbClr val="9FDF01">
                        <a:alpha val="100000"/>
                      </a:srgbClr>
                    </a:gs>
                  </a:gsLst>
                  <a:lin ang="2700000"/>
                </a:gradFill>
                <a:latin typeface="Gotham Bold"/>
                <a:ea typeface="Gotham Bold"/>
                <a:cs typeface="Gotham Bold"/>
                <a:sym typeface="Gotham Bold"/>
              </a:rPr>
              <a:t>Escalamiento a Futuro</a:t>
            </a:r>
          </a:p>
        </p:txBody>
      </p:sp>
      <p:sp>
        <p:nvSpPr>
          <p:cNvPr name="AutoShape 19" id="19"/>
          <p:cNvSpPr/>
          <p:nvPr/>
        </p:nvSpPr>
        <p:spPr>
          <a:xfrm>
            <a:off x="9124950" y="1897380"/>
            <a:ext cx="0" cy="649224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C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26644"/>
            <a:ext cx="6516409" cy="671242"/>
            <a:chOff x="0" y="0"/>
            <a:chExt cx="8688545" cy="89498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79983" cy="894989"/>
              <a:chOff x="0" y="0"/>
              <a:chExt cx="42512" cy="2113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2512" cy="211396"/>
              </a:xfrm>
              <a:custGeom>
                <a:avLst/>
                <a:gdLst/>
                <a:ahLst/>
                <a:cxnLst/>
                <a:rect r="r" b="b" t="t" l="l"/>
                <a:pathLst>
                  <a:path h="211396" w="42512">
                    <a:moveTo>
                      <a:pt x="0" y="0"/>
                    </a:moveTo>
                    <a:lnTo>
                      <a:pt x="42512" y="0"/>
                    </a:lnTo>
                    <a:lnTo>
                      <a:pt x="42512" y="211396"/>
                    </a:lnTo>
                    <a:lnTo>
                      <a:pt x="0" y="211396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65C5C">
                      <a:alpha val="100000"/>
                    </a:srgbClr>
                  </a:gs>
                  <a:gs pos="100000">
                    <a:srgbClr val="D8404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2512" cy="25902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73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345079" y="-28575"/>
              <a:ext cx="8343466" cy="4653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171" spc="225">
                  <a:solidFill>
                    <a:srgbClr val="C6302B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RF-02 | Conversion y Normalizacion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476104" y="1209495"/>
            <a:ext cx="706175" cy="626570"/>
          </a:xfrm>
          <a:custGeom>
            <a:avLst/>
            <a:gdLst/>
            <a:ahLst/>
            <a:cxnLst/>
            <a:rect r="r" b="b" t="t" l="l"/>
            <a:pathLst>
              <a:path h="626570" w="706175">
                <a:moveTo>
                  <a:pt x="0" y="0"/>
                </a:moveTo>
                <a:lnTo>
                  <a:pt x="706175" y="0"/>
                </a:lnTo>
                <a:lnTo>
                  <a:pt x="706175" y="626570"/>
                </a:lnTo>
                <a:lnTo>
                  <a:pt x="0" y="626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994721" y="-968638"/>
            <a:ext cx="4605088" cy="2645832"/>
          </a:xfrm>
          <a:custGeom>
            <a:avLst/>
            <a:gdLst/>
            <a:ahLst/>
            <a:cxnLst/>
            <a:rect r="r" b="b" t="t" l="l"/>
            <a:pathLst>
              <a:path h="2645832" w="4605088">
                <a:moveTo>
                  <a:pt x="0" y="0"/>
                </a:moveTo>
                <a:lnTo>
                  <a:pt x="4605088" y="0"/>
                </a:lnTo>
                <a:lnTo>
                  <a:pt x="4605088" y="2645832"/>
                </a:lnTo>
                <a:lnTo>
                  <a:pt x="0" y="26458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0">
            <a:off x="9144000" y="2629744"/>
            <a:ext cx="49102" cy="598393"/>
            <a:chOff x="0" y="0"/>
            <a:chExt cx="12932" cy="1576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932" cy="157601"/>
            </a:xfrm>
            <a:custGeom>
              <a:avLst/>
              <a:gdLst/>
              <a:ahLst/>
              <a:cxnLst/>
              <a:rect r="r" b="b" t="t" l="l"/>
              <a:pathLst>
                <a:path h="157601" w="12932">
                  <a:moveTo>
                    <a:pt x="0" y="0"/>
                  </a:moveTo>
                  <a:lnTo>
                    <a:pt x="12932" y="0"/>
                  </a:lnTo>
                  <a:lnTo>
                    <a:pt x="12932" y="157601"/>
                  </a:lnTo>
                  <a:lnTo>
                    <a:pt x="0" y="157601"/>
                  </a:lnTo>
                  <a:close/>
                </a:path>
              </a:pathLst>
            </a:custGeom>
            <a:solidFill>
              <a:srgbClr val="C6302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932" cy="195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0" y="4808250"/>
            <a:ext cx="49102" cy="598393"/>
            <a:chOff x="0" y="0"/>
            <a:chExt cx="12932" cy="1576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932" cy="157601"/>
            </a:xfrm>
            <a:custGeom>
              <a:avLst/>
              <a:gdLst/>
              <a:ahLst/>
              <a:cxnLst/>
              <a:rect r="r" b="b" t="t" l="l"/>
              <a:pathLst>
                <a:path h="157601" w="12932">
                  <a:moveTo>
                    <a:pt x="0" y="0"/>
                  </a:moveTo>
                  <a:lnTo>
                    <a:pt x="12932" y="0"/>
                  </a:lnTo>
                  <a:lnTo>
                    <a:pt x="12932" y="157601"/>
                  </a:lnTo>
                  <a:lnTo>
                    <a:pt x="0" y="157601"/>
                  </a:lnTo>
                  <a:close/>
                </a:path>
              </a:pathLst>
            </a:custGeom>
            <a:solidFill>
              <a:srgbClr val="C6302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932" cy="195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0" y="7244968"/>
            <a:ext cx="49102" cy="598393"/>
            <a:chOff x="0" y="0"/>
            <a:chExt cx="12932" cy="1576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932" cy="157601"/>
            </a:xfrm>
            <a:custGeom>
              <a:avLst/>
              <a:gdLst/>
              <a:ahLst/>
              <a:cxnLst/>
              <a:rect r="r" b="b" t="t" l="l"/>
              <a:pathLst>
                <a:path h="157601" w="12932">
                  <a:moveTo>
                    <a:pt x="0" y="0"/>
                  </a:moveTo>
                  <a:lnTo>
                    <a:pt x="12932" y="0"/>
                  </a:lnTo>
                  <a:lnTo>
                    <a:pt x="12932" y="157601"/>
                  </a:lnTo>
                  <a:lnTo>
                    <a:pt x="0" y="157601"/>
                  </a:lnTo>
                  <a:close/>
                </a:path>
              </a:pathLst>
            </a:custGeom>
            <a:solidFill>
              <a:srgbClr val="C6302B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2932" cy="195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476104" y="2928940"/>
            <a:ext cx="6329469" cy="5443343"/>
          </a:xfrm>
          <a:custGeom>
            <a:avLst/>
            <a:gdLst/>
            <a:ahLst/>
            <a:cxnLst/>
            <a:rect r="r" b="b" t="t" l="l"/>
            <a:pathLst>
              <a:path h="5443343" w="6329469">
                <a:moveTo>
                  <a:pt x="0" y="0"/>
                </a:moveTo>
                <a:lnTo>
                  <a:pt x="6329469" y="0"/>
                </a:lnTo>
                <a:lnTo>
                  <a:pt x="6329469" y="5443344"/>
                </a:lnTo>
                <a:lnTo>
                  <a:pt x="0" y="54433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327856" y="1465630"/>
            <a:ext cx="3235591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DB ⟶  Redis - Clave-Valor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85069" y="2241934"/>
            <a:ext cx="8285835" cy="1244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2"/>
              </a:lnSpc>
            </a:pPr>
            <a:r>
              <a:rPr lang="en-US" sz="2530" b="true">
                <a:solidFill>
                  <a:srgbClr val="C6302B"/>
                </a:solidFill>
                <a:latin typeface="Poppins Bold"/>
                <a:ea typeface="Poppins Bold"/>
                <a:cs typeface="Poppins Bold"/>
                <a:sym typeface="Poppins Bold"/>
              </a:rPr>
              <a:t>CAP ⟶ CP: </a:t>
            </a:r>
          </a:p>
          <a:p>
            <a:pPr algn="l">
              <a:lnSpc>
                <a:spcPts val="3122"/>
              </a:lnSpc>
              <a:spcBef>
                <a:spcPct val="0"/>
              </a:spcBef>
            </a:pPr>
            <a:r>
              <a:rPr lang="en-US" sz="22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cons</a:t>
            </a:r>
            <a:r>
              <a:rPr lang="en-US" sz="22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istencia sobre la versión activa y su vigencia temporal; ante partición se prefiere fallar la conversión.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94722" y="3928424"/>
            <a:ext cx="8276183" cy="2205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0"/>
              </a:lnSpc>
            </a:pPr>
            <a:r>
              <a:rPr lang="en-US" sz="2530" b="true">
                <a:solidFill>
                  <a:srgbClr val="C6302B"/>
                </a:solidFill>
                <a:latin typeface="Poppins Bold"/>
                <a:ea typeface="Poppins Bold"/>
                <a:cs typeface="Poppins Bold"/>
                <a:sym typeface="Poppins Bold"/>
              </a:rPr>
              <a:t>Pros:  </a:t>
            </a:r>
          </a:p>
          <a:p>
            <a:pPr algn="l" marL="481468" indent="-240734" lvl="1">
              <a:lnSpc>
                <a:spcPts val="3411"/>
              </a:lnSpc>
              <a:buFont typeface="Arial"/>
              <a:buChar char="•"/>
            </a:pPr>
            <a:r>
              <a:rPr lang="en-US" b="true" sz="22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Lat</a:t>
            </a:r>
            <a:r>
              <a:rPr lang="en-US" b="true" sz="22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encia baja</a:t>
            </a:r>
            <a:r>
              <a:rPr lang="en-US" sz="22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(microsegundos): ideal para consultas masivas repetitivas</a:t>
            </a:r>
          </a:p>
          <a:p>
            <a:pPr algn="l" marL="481468" indent="-240734" lvl="1">
              <a:lnSpc>
                <a:spcPts val="3411"/>
              </a:lnSpc>
              <a:buFont typeface="Arial"/>
              <a:buChar char="•"/>
            </a:pPr>
            <a:r>
              <a:rPr lang="en-US" b="true" sz="22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Modelo simple:</a:t>
            </a:r>
            <a:r>
              <a:rPr lang="en-US" sz="22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Key-Value encaja con reglas tipo diccionario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94722" y="6476048"/>
            <a:ext cx="7864578" cy="1993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3"/>
              </a:lnSpc>
            </a:pPr>
            <a:r>
              <a:rPr lang="en-US" sz="2553" b="true">
                <a:solidFill>
                  <a:srgbClr val="C6302B"/>
                </a:solidFill>
                <a:latin typeface="Poppins Bold"/>
                <a:ea typeface="Poppins Bold"/>
                <a:cs typeface="Poppins Bold"/>
                <a:sym typeface="Poppins Bold"/>
              </a:rPr>
              <a:t>Contras: </a:t>
            </a:r>
          </a:p>
          <a:p>
            <a:pPr algn="l" marL="508215" indent="-254107" lvl="1">
              <a:lnSpc>
                <a:spcPts val="3883"/>
              </a:lnSpc>
              <a:buFont typeface="Arial"/>
              <a:buChar char="•"/>
            </a:pPr>
            <a:r>
              <a:rPr lang="en-US" b="true" sz="235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Volatilidad</a:t>
            </a:r>
            <a:r>
              <a:rPr lang="en-US" sz="23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requiere persistencia AOF/RDB ante reinicios </a:t>
            </a:r>
          </a:p>
          <a:p>
            <a:pPr algn="l" marL="508215" indent="-254107" lvl="1">
              <a:lnSpc>
                <a:spcPts val="3883"/>
              </a:lnSpc>
              <a:buFont typeface="Arial"/>
              <a:buChar char="•"/>
            </a:pPr>
            <a:r>
              <a:rPr lang="en-US" b="true" sz="235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Costo</a:t>
            </a:r>
            <a:r>
              <a:rPr lang="en-US" sz="23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RAM &gt; disco para volúmenes grandes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C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657962">
            <a:off x="8641873" y="-3533592"/>
            <a:ext cx="10835856" cy="4481372"/>
          </a:xfrm>
          <a:custGeom>
            <a:avLst/>
            <a:gdLst/>
            <a:ahLst/>
            <a:cxnLst/>
            <a:rect r="r" b="b" t="t" l="l"/>
            <a:pathLst>
              <a:path h="4481372" w="10835856">
                <a:moveTo>
                  <a:pt x="0" y="4481371"/>
                </a:moveTo>
                <a:lnTo>
                  <a:pt x="10835856" y="4481371"/>
                </a:lnTo>
                <a:lnTo>
                  <a:pt x="10835856" y="0"/>
                </a:lnTo>
                <a:lnTo>
                  <a:pt x="0" y="0"/>
                </a:lnTo>
                <a:lnTo>
                  <a:pt x="0" y="448137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9437973">
            <a:off x="-3860469" y="8388573"/>
            <a:ext cx="11440617" cy="4731482"/>
          </a:xfrm>
          <a:custGeom>
            <a:avLst/>
            <a:gdLst/>
            <a:ahLst/>
            <a:cxnLst/>
            <a:rect r="r" b="b" t="t" l="l"/>
            <a:pathLst>
              <a:path h="4731482" w="11440617">
                <a:moveTo>
                  <a:pt x="11440617" y="4731481"/>
                </a:moveTo>
                <a:lnTo>
                  <a:pt x="0" y="4731481"/>
                </a:lnTo>
                <a:lnTo>
                  <a:pt x="0" y="0"/>
                </a:lnTo>
                <a:lnTo>
                  <a:pt x="11440617" y="0"/>
                </a:lnTo>
                <a:lnTo>
                  <a:pt x="11440617" y="4731481"/>
                </a:lnTo>
                <a:close/>
              </a:path>
            </a:pathLst>
          </a:custGeom>
          <a:blipFill>
            <a:blip r:embed="rId4">
              <a:alphaModFix amt="5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4466" y="2856616"/>
            <a:ext cx="152260" cy="152260"/>
          </a:xfrm>
          <a:custGeom>
            <a:avLst/>
            <a:gdLst/>
            <a:ahLst/>
            <a:cxnLst/>
            <a:rect r="r" b="b" t="t" l="l"/>
            <a:pathLst>
              <a:path h="152260" w="152260">
                <a:moveTo>
                  <a:pt x="0" y="0"/>
                </a:moveTo>
                <a:lnTo>
                  <a:pt x="152259" y="0"/>
                </a:lnTo>
                <a:lnTo>
                  <a:pt x="152259" y="152259"/>
                </a:lnTo>
                <a:lnTo>
                  <a:pt x="0" y="1522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24466" y="1868470"/>
            <a:ext cx="7012541" cy="57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b="true" sz="3999" spc="79">
                <a:solidFill>
                  <a:srgbClr val="C6302B"/>
                </a:solidFill>
                <a:latin typeface="Gotham Bold"/>
                <a:ea typeface="Gotham Bold"/>
                <a:cs typeface="Gotham Bold"/>
                <a:sym typeface="Gotham Bold"/>
              </a:rPr>
              <a:t>Trade-off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37047" y="2654781"/>
            <a:ext cx="7987435" cy="2959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6"/>
              </a:lnSpc>
            </a:pPr>
            <a:r>
              <a:rPr lang="en-US" sz="202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Exactit</a:t>
            </a:r>
            <a:r>
              <a:rPr lang="en-US" b="true" sz="202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ud vs Latencia </a:t>
            </a:r>
          </a:p>
          <a:p>
            <a:pPr algn="l">
              <a:lnSpc>
                <a:spcPts val="3446"/>
              </a:lnSpc>
            </a:pPr>
            <a:r>
              <a:rPr lang="en-US" b="true" sz="202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</a:t>
            </a:r>
            <a:r>
              <a:rPr lang="en-US" sz="20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ectura consistente para no normalizar con reglas obsoletas </a:t>
            </a:r>
          </a:p>
          <a:p>
            <a:pPr algn="l">
              <a:lnSpc>
                <a:spcPts val="3446"/>
              </a:lnSpc>
            </a:pPr>
          </a:p>
          <a:p>
            <a:pPr algn="l">
              <a:lnSpc>
                <a:spcPts val="3446"/>
              </a:lnSpc>
            </a:pPr>
            <a:r>
              <a:rPr lang="en-US" sz="202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Especialización vs Complejidad</a:t>
            </a:r>
          </a:p>
          <a:p>
            <a:pPr algn="l">
              <a:lnSpc>
                <a:spcPts val="3446"/>
              </a:lnSpc>
            </a:pPr>
            <a:r>
              <a:rPr lang="en-US" sz="20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Redis evita saturar MongoDB con tráfico de solo lectura, pero suma tecnología </a:t>
            </a:r>
            <a:r>
              <a:rPr lang="en-US" sz="20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administrar</a:t>
            </a:r>
          </a:p>
          <a:p>
            <a:pPr algn="l">
              <a:lnSpc>
                <a:spcPts val="295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24466" y="4115649"/>
            <a:ext cx="152260" cy="152260"/>
          </a:xfrm>
          <a:custGeom>
            <a:avLst/>
            <a:gdLst/>
            <a:ahLst/>
            <a:cxnLst/>
            <a:rect r="r" b="b" t="t" l="l"/>
            <a:pathLst>
              <a:path h="152260" w="152260">
                <a:moveTo>
                  <a:pt x="0" y="0"/>
                </a:moveTo>
                <a:lnTo>
                  <a:pt x="152259" y="0"/>
                </a:lnTo>
                <a:lnTo>
                  <a:pt x="152259" y="152260"/>
                </a:lnTo>
                <a:lnTo>
                  <a:pt x="0" y="1522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543582" y="5889749"/>
            <a:ext cx="152260" cy="152260"/>
          </a:xfrm>
          <a:custGeom>
            <a:avLst/>
            <a:gdLst/>
            <a:ahLst/>
            <a:cxnLst/>
            <a:rect r="r" b="b" t="t" l="l"/>
            <a:pathLst>
              <a:path h="152260" w="152260">
                <a:moveTo>
                  <a:pt x="0" y="0"/>
                </a:moveTo>
                <a:lnTo>
                  <a:pt x="152260" y="0"/>
                </a:lnTo>
                <a:lnTo>
                  <a:pt x="152260" y="152259"/>
                </a:lnTo>
                <a:lnTo>
                  <a:pt x="0" y="1522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543582" y="7163760"/>
            <a:ext cx="152260" cy="152260"/>
          </a:xfrm>
          <a:custGeom>
            <a:avLst/>
            <a:gdLst/>
            <a:ahLst/>
            <a:cxnLst/>
            <a:rect r="r" b="b" t="t" l="l"/>
            <a:pathLst>
              <a:path h="152260" w="152260">
                <a:moveTo>
                  <a:pt x="0" y="0"/>
                </a:moveTo>
                <a:lnTo>
                  <a:pt x="152260" y="0"/>
                </a:lnTo>
                <a:lnTo>
                  <a:pt x="152260" y="152260"/>
                </a:lnTo>
                <a:lnTo>
                  <a:pt x="0" y="1522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28700" y="726644"/>
            <a:ext cx="6516409" cy="671242"/>
            <a:chOff x="0" y="0"/>
            <a:chExt cx="8688545" cy="894989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79983" cy="894989"/>
              <a:chOff x="0" y="0"/>
              <a:chExt cx="42512" cy="211396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2512" cy="211396"/>
              </a:xfrm>
              <a:custGeom>
                <a:avLst/>
                <a:gdLst/>
                <a:ahLst/>
                <a:cxnLst/>
                <a:rect r="r" b="b" t="t" l="l"/>
                <a:pathLst>
                  <a:path h="211396" w="42512">
                    <a:moveTo>
                      <a:pt x="0" y="0"/>
                    </a:moveTo>
                    <a:lnTo>
                      <a:pt x="42512" y="0"/>
                    </a:lnTo>
                    <a:lnTo>
                      <a:pt x="42512" y="211396"/>
                    </a:lnTo>
                    <a:lnTo>
                      <a:pt x="0" y="211396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E65C5C">
                      <a:alpha val="100000"/>
                    </a:srgbClr>
                  </a:gs>
                  <a:gs pos="100000">
                    <a:srgbClr val="D8404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42512" cy="25902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73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345079" y="-28575"/>
              <a:ext cx="8343466" cy="4653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171" spc="225">
                  <a:solidFill>
                    <a:srgbClr val="C6302B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RF-02 | Conversion y Normalizacion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810282" y="2117444"/>
            <a:ext cx="6835257" cy="2074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9"/>
              </a:lnSpc>
            </a:pPr>
            <a:r>
              <a:rPr lang="en-US" b="true" sz="3999" spc="415">
                <a:solidFill>
                  <a:srgbClr val="C6302B"/>
                </a:solidFill>
                <a:latin typeface="Gotham Bold"/>
                <a:ea typeface="Gotham Bold"/>
                <a:cs typeface="Gotham Bold"/>
                <a:sym typeface="Gotham Bold"/>
              </a:rPr>
              <a:t>N-R-W </a:t>
            </a:r>
          </a:p>
          <a:p>
            <a:pPr algn="l">
              <a:lnSpc>
                <a:spcPts val="3408"/>
              </a:lnSpc>
            </a:pPr>
            <a:r>
              <a:rPr lang="en-US" sz="217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N=3 </a:t>
            </a:r>
          </a:p>
          <a:p>
            <a:pPr algn="l">
              <a:lnSpc>
                <a:spcPts val="3408"/>
              </a:lnSpc>
            </a:pPr>
            <a:r>
              <a:rPr lang="en-US" sz="217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W: con WAIT </a:t>
            </a:r>
          </a:p>
          <a:p>
            <a:pPr algn="l">
              <a:lnSpc>
                <a:spcPts val="3408"/>
              </a:lnSpc>
            </a:pPr>
            <a:r>
              <a:rPr lang="en-US" sz="217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R: desde maestro.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10282" y="5736947"/>
            <a:ext cx="8477718" cy="2281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8"/>
              </a:lnSpc>
              <a:spcBef>
                <a:spcPct val="0"/>
              </a:spcBef>
            </a:pPr>
            <a:r>
              <a:rPr lang="en-US" b="true" sz="20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Escalamiento horizontal: </a:t>
            </a:r>
          </a:p>
          <a:p>
            <a:pPr algn="l">
              <a:lnSpc>
                <a:spcPts val="2618"/>
              </a:lnSpc>
              <a:spcBef>
                <a:spcPct val="0"/>
              </a:spcBef>
            </a:pPr>
            <a:r>
              <a:rPr lang="en-US" sz="20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 crece el número de reglas internacionales, se agregan nodos al clúster.</a:t>
            </a:r>
          </a:p>
          <a:p>
            <a:pPr algn="l">
              <a:lnSpc>
                <a:spcPts val="2618"/>
              </a:lnSpc>
              <a:spcBef>
                <a:spcPct val="0"/>
              </a:spcBef>
            </a:pPr>
          </a:p>
          <a:p>
            <a:pPr algn="l">
              <a:lnSpc>
                <a:spcPts val="2618"/>
              </a:lnSpc>
              <a:spcBef>
                <a:spcPct val="0"/>
              </a:spcBef>
            </a:pPr>
            <a:r>
              <a:rPr lang="en-US" b="true" sz="20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Rebalanceo:</a:t>
            </a:r>
          </a:p>
          <a:p>
            <a:pPr algn="l">
              <a:lnSpc>
                <a:spcPts val="2618"/>
              </a:lnSpc>
              <a:spcBef>
                <a:spcPct val="0"/>
              </a:spcBef>
            </a:pPr>
            <a:r>
              <a:rPr lang="en-US" sz="20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Redis rebalancea los hash slots para repartir la memoria/carga entre nodos nuevos de forma transparente.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10282" y="4710152"/>
            <a:ext cx="7012541" cy="57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3999" spc="79" b="true">
                <a:solidFill>
                  <a:srgbClr val="C6302B"/>
                </a:solidFill>
                <a:latin typeface="Gotham Bold"/>
                <a:ea typeface="Gotham Bold"/>
                <a:cs typeface="Gotham Bold"/>
                <a:sym typeface="Gotham Bold"/>
              </a:rPr>
              <a:t>Escalamiento a futuro: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24466" y="6251541"/>
            <a:ext cx="8109984" cy="338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8"/>
              </a:lnSpc>
              <a:spcBef>
                <a:spcPct val="0"/>
              </a:spcBef>
            </a:pPr>
            <a:r>
              <a:rPr lang="en-US" sz="20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Redis Cluster con hash slots.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24466" y="5643051"/>
            <a:ext cx="7012541" cy="57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3999" spc="79" b="true">
                <a:solidFill>
                  <a:srgbClr val="C6302B"/>
                </a:solidFill>
                <a:latin typeface="Gotham Bold"/>
                <a:ea typeface="Gotham Bold"/>
                <a:cs typeface="Gotham Bold"/>
                <a:sym typeface="Gotham Bold"/>
              </a:rPr>
              <a:t>Sha</a:t>
            </a:r>
            <a:r>
              <a:rPr lang="en-US" b="true" sz="3999" spc="79">
                <a:solidFill>
                  <a:srgbClr val="C6302B"/>
                </a:solidFill>
                <a:latin typeface="Gotham Bold"/>
                <a:ea typeface="Gotham Bold"/>
                <a:cs typeface="Gotham Bold"/>
                <a:sym typeface="Gotham Bold"/>
              </a:rPr>
              <a:t>rding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36284" y="7097897"/>
            <a:ext cx="7012541" cy="57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3999" spc="79" b="true">
                <a:solidFill>
                  <a:srgbClr val="C6302B"/>
                </a:solidFill>
                <a:latin typeface="Gotham Bold"/>
                <a:ea typeface="Gotham Bold"/>
                <a:cs typeface="Gotham Bold"/>
                <a:sym typeface="Gotham Bold"/>
              </a:rPr>
              <a:t>Cluste</a:t>
            </a:r>
            <a:r>
              <a:rPr lang="en-US" b="true" sz="3999" spc="79">
                <a:solidFill>
                  <a:srgbClr val="C6302B"/>
                </a:solidFill>
                <a:latin typeface="Gotham Bold"/>
                <a:ea typeface="Gotham Bold"/>
                <a:cs typeface="Gotham Bold"/>
                <a:sym typeface="Gotham Bold"/>
              </a:rPr>
              <a:t>ring y Replicación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36284" y="7744467"/>
            <a:ext cx="7873848" cy="338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8"/>
              </a:lnSpc>
              <a:spcBef>
                <a:spcPct val="0"/>
              </a:spcBef>
            </a:pPr>
            <a:r>
              <a:rPr lang="en-US" sz="20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Mast</a:t>
            </a:r>
            <a:r>
              <a:rPr lang="en-US" sz="20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er–Slave para alta disponibilidad.</a:t>
            </a:r>
          </a:p>
        </p:txBody>
      </p:sp>
      <p:sp>
        <p:nvSpPr>
          <p:cNvPr name="AutoShape 22" id="22"/>
          <p:cNvSpPr/>
          <p:nvPr/>
        </p:nvSpPr>
        <p:spPr>
          <a:xfrm flipH="true">
            <a:off x="9210207" y="1937502"/>
            <a:ext cx="0" cy="710014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C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26644"/>
            <a:ext cx="7828289" cy="671242"/>
            <a:chOff x="0" y="0"/>
            <a:chExt cx="10437719" cy="89498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79983" cy="894989"/>
              <a:chOff x="0" y="0"/>
              <a:chExt cx="42512" cy="2113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2512" cy="211396"/>
              </a:xfrm>
              <a:custGeom>
                <a:avLst/>
                <a:gdLst/>
                <a:ahLst/>
                <a:cxnLst/>
                <a:rect r="r" b="b" t="t" l="l"/>
                <a:pathLst>
                  <a:path h="211396" w="42512">
                    <a:moveTo>
                      <a:pt x="0" y="0"/>
                    </a:moveTo>
                    <a:lnTo>
                      <a:pt x="42512" y="0"/>
                    </a:lnTo>
                    <a:lnTo>
                      <a:pt x="42512" y="211396"/>
                    </a:lnTo>
                    <a:lnTo>
                      <a:pt x="0" y="211396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63F8D">
                      <a:alpha val="100000"/>
                    </a:srgbClr>
                  </a:gs>
                  <a:gs pos="100000">
                    <a:srgbClr val="A521C6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2512" cy="25902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73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345079" y="-28575"/>
              <a:ext cx="10092640" cy="4653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171" spc="225">
                  <a:solidFill>
                    <a:srgbClr val="E53999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RF-03 | Relaciones Académicas Complejas 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220512" y="1397886"/>
            <a:ext cx="862195" cy="838485"/>
          </a:xfrm>
          <a:custGeom>
            <a:avLst/>
            <a:gdLst/>
            <a:ahLst/>
            <a:cxnLst/>
            <a:rect r="r" b="b" t="t" l="l"/>
            <a:pathLst>
              <a:path h="838485" w="862195">
                <a:moveTo>
                  <a:pt x="0" y="0"/>
                </a:moveTo>
                <a:lnTo>
                  <a:pt x="862195" y="0"/>
                </a:lnTo>
                <a:lnTo>
                  <a:pt x="862195" y="838484"/>
                </a:lnTo>
                <a:lnTo>
                  <a:pt x="0" y="8384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144000" y="2629744"/>
            <a:ext cx="49102" cy="598393"/>
            <a:chOff x="0" y="0"/>
            <a:chExt cx="12932" cy="15760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932" cy="157601"/>
            </a:xfrm>
            <a:custGeom>
              <a:avLst/>
              <a:gdLst/>
              <a:ahLst/>
              <a:cxnLst/>
              <a:rect r="r" b="b" t="t" l="l"/>
              <a:pathLst>
                <a:path h="157601" w="12932">
                  <a:moveTo>
                    <a:pt x="0" y="0"/>
                  </a:moveTo>
                  <a:lnTo>
                    <a:pt x="12932" y="0"/>
                  </a:lnTo>
                  <a:lnTo>
                    <a:pt x="12932" y="157601"/>
                  </a:lnTo>
                  <a:lnTo>
                    <a:pt x="0" y="157601"/>
                  </a:lnTo>
                  <a:close/>
                </a:path>
              </a:pathLst>
            </a:custGeom>
            <a:solidFill>
              <a:srgbClr val="E5399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932" cy="195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0" y="4844303"/>
            <a:ext cx="49102" cy="598393"/>
            <a:chOff x="0" y="0"/>
            <a:chExt cx="12932" cy="157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932" cy="157601"/>
            </a:xfrm>
            <a:custGeom>
              <a:avLst/>
              <a:gdLst/>
              <a:ahLst/>
              <a:cxnLst/>
              <a:rect r="r" b="b" t="t" l="l"/>
              <a:pathLst>
                <a:path h="157601" w="12932">
                  <a:moveTo>
                    <a:pt x="0" y="0"/>
                  </a:moveTo>
                  <a:lnTo>
                    <a:pt x="12932" y="0"/>
                  </a:lnTo>
                  <a:lnTo>
                    <a:pt x="12932" y="157601"/>
                  </a:lnTo>
                  <a:lnTo>
                    <a:pt x="0" y="157601"/>
                  </a:lnTo>
                  <a:close/>
                </a:path>
              </a:pathLst>
            </a:custGeom>
            <a:solidFill>
              <a:srgbClr val="E5399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932" cy="195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68551" y="7499093"/>
            <a:ext cx="49102" cy="598393"/>
            <a:chOff x="0" y="0"/>
            <a:chExt cx="12932" cy="1576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932" cy="157601"/>
            </a:xfrm>
            <a:custGeom>
              <a:avLst/>
              <a:gdLst/>
              <a:ahLst/>
              <a:cxnLst/>
              <a:rect r="r" b="b" t="t" l="l"/>
              <a:pathLst>
                <a:path h="157601" w="12932">
                  <a:moveTo>
                    <a:pt x="0" y="0"/>
                  </a:moveTo>
                  <a:lnTo>
                    <a:pt x="12932" y="0"/>
                  </a:lnTo>
                  <a:lnTo>
                    <a:pt x="12932" y="157601"/>
                  </a:lnTo>
                  <a:lnTo>
                    <a:pt x="0" y="157601"/>
                  </a:lnTo>
                  <a:close/>
                </a:path>
              </a:pathLst>
            </a:custGeom>
            <a:solidFill>
              <a:srgbClr val="E5399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932" cy="195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994721" y="-968638"/>
            <a:ext cx="4605088" cy="2645832"/>
          </a:xfrm>
          <a:custGeom>
            <a:avLst/>
            <a:gdLst/>
            <a:ahLst/>
            <a:cxnLst/>
            <a:rect r="r" b="b" t="t" l="l"/>
            <a:pathLst>
              <a:path h="2645832" w="4605088">
                <a:moveTo>
                  <a:pt x="0" y="0"/>
                </a:moveTo>
                <a:lnTo>
                  <a:pt x="4605088" y="0"/>
                </a:lnTo>
                <a:lnTo>
                  <a:pt x="4605088" y="2645832"/>
                </a:lnTo>
                <a:lnTo>
                  <a:pt x="0" y="26458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1474217" y="3120275"/>
            <a:ext cx="6242600" cy="4914629"/>
          </a:xfrm>
          <a:custGeom>
            <a:avLst/>
            <a:gdLst/>
            <a:ahLst/>
            <a:cxnLst/>
            <a:rect r="r" b="b" t="t" l="l"/>
            <a:pathLst>
              <a:path h="4914629" w="6242600">
                <a:moveTo>
                  <a:pt x="0" y="0"/>
                </a:moveTo>
                <a:lnTo>
                  <a:pt x="6242601" y="0"/>
                </a:lnTo>
                <a:lnTo>
                  <a:pt x="6242601" y="4914629"/>
                </a:lnTo>
                <a:lnTo>
                  <a:pt x="0" y="49146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237027" y="1625675"/>
            <a:ext cx="3235591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DB ⟶  Neo4j - grafos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94722" y="2073342"/>
            <a:ext cx="7864578" cy="1634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2"/>
              </a:lnSpc>
            </a:pPr>
            <a:r>
              <a:rPr lang="en-US" sz="2530" b="true">
                <a:solidFill>
                  <a:srgbClr val="E53999"/>
                </a:solidFill>
                <a:latin typeface="Poppins Bold"/>
                <a:ea typeface="Poppins Bold"/>
                <a:cs typeface="Poppins Bold"/>
                <a:sym typeface="Poppins Bold"/>
              </a:rPr>
              <a:t>CAP ⟶ CP:</a:t>
            </a:r>
          </a:p>
          <a:p>
            <a:pPr algn="l">
              <a:lnSpc>
                <a:spcPts val="3122"/>
              </a:lnSpc>
            </a:pPr>
            <a:r>
              <a:rPr lang="en-US" sz="22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Cambi</a:t>
            </a:r>
            <a:r>
              <a:rPr lang="en-US" sz="22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os en equivalencias deben verse inmediato; ante fallas de red se deniegan escrituras para evitar incoherencia.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94722" y="4391836"/>
            <a:ext cx="7665688" cy="2025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2"/>
              </a:lnSpc>
            </a:pPr>
            <a:r>
              <a:rPr lang="en-US" sz="2530" b="true">
                <a:solidFill>
                  <a:srgbClr val="E53999"/>
                </a:solidFill>
                <a:latin typeface="Poppins Bold"/>
                <a:ea typeface="Poppins Bold"/>
                <a:cs typeface="Poppins Bold"/>
                <a:sym typeface="Poppins Bold"/>
              </a:rPr>
              <a:t>Pros:  </a:t>
            </a:r>
          </a:p>
          <a:p>
            <a:pPr algn="l" marL="481468" indent="-240734" lvl="1">
              <a:lnSpc>
                <a:spcPts val="3122"/>
              </a:lnSpc>
              <a:buFont typeface="Arial"/>
              <a:buChar char="•"/>
            </a:pPr>
            <a:r>
              <a:rPr lang="en-US" sz="22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Ind</a:t>
            </a:r>
            <a:r>
              <a:rPr lang="en-US" sz="22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ex-Free Adjacency: navegar relaciones = costo constante </a:t>
            </a:r>
          </a:p>
          <a:p>
            <a:pPr algn="l" marL="481468" indent="-240734" lvl="1">
              <a:lnSpc>
                <a:spcPts val="3122"/>
              </a:lnSpc>
              <a:buFont typeface="Arial"/>
              <a:buChar char="•"/>
            </a:pPr>
            <a:r>
              <a:rPr lang="en-US" sz="22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Integridad referencial: relaciones se gestionan al borrar materia (evita “IDs huérfanos”)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94722" y="6973061"/>
            <a:ext cx="7864578" cy="1507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3"/>
              </a:lnSpc>
            </a:pPr>
            <a:r>
              <a:rPr lang="en-US" sz="2553" b="true">
                <a:solidFill>
                  <a:srgbClr val="E53999"/>
                </a:solidFill>
                <a:latin typeface="Poppins Bold"/>
                <a:ea typeface="Poppins Bold"/>
                <a:cs typeface="Poppins Bold"/>
                <a:sym typeface="Poppins Bold"/>
              </a:rPr>
              <a:t>Contras: </a:t>
            </a:r>
          </a:p>
          <a:p>
            <a:pPr algn="l" marL="508215" indent="-254107" lvl="1">
              <a:lnSpc>
                <a:spcPts val="3883"/>
              </a:lnSpc>
              <a:buFont typeface="Arial"/>
              <a:buChar char="•"/>
            </a:pPr>
            <a:r>
              <a:rPr lang="en-US" sz="23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Difí</a:t>
            </a:r>
            <a:r>
              <a:rPr lang="en-US" sz="23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cil de particionar → suele requerir más RAM </a:t>
            </a:r>
          </a:p>
          <a:p>
            <a:pPr algn="l" marL="508215" indent="-254107" lvl="1">
              <a:lnSpc>
                <a:spcPts val="3883"/>
              </a:lnSpc>
              <a:buFont typeface="Arial"/>
              <a:buChar char="•"/>
            </a:pPr>
            <a:r>
              <a:rPr lang="en-US" sz="23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Curva de aprendizaje: dominar Cypher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C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657962">
            <a:off x="8641873" y="-3533592"/>
            <a:ext cx="10835856" cy="4481372"/>
          </a:xfrm>
          <a:custGeom>
            <a:avLst/>
            <a:gdLst/>
            <a:ahLst/>
            <a:cxnLst/>
            <a:rect r="r" b="b" t="t" l="l"/>
            <a:pathLst>
              <a:path h="4481372" w="10835856">
                <a:moveTo>
                  <a:pt x="0" y="4481371"/>
                </a:moveTo>
                <a:lnTo>
                  <a:pt x="10835856" y="4481371"/>
                </a:lnTo>
                <a:lnTo>
                  <a:pt x="10835856" y="0"/>
                </a:lnTo>
                <a:lnTo>
                  <a:pt x="0" y="0"/>
                </a:lnTo>
                <a:lnTo>
                  <a:pt x="0" y="448137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9437973">
            <a:off x="-3860469" y="8388573"/>
            <a:ext cx="11440617" cy="4731482"/>
          </a:xfrm>
          <a:custGeom>
            <a:avLst/>
            <a:gdLst/>
            <a:ahLst/>
            <a:cxnLst/>
            <a:rect r="r" b="b" t="t" l="l"/>
            <a:pathLst>
              <a:path h="4731482" w="11440617">
                <a:moveTo>
                  <a:pt x="11440617" y="4731481"/>
                </a:moveTo>
                <a:lnTo>
                  <a:pt x="0" y="4731481"/>
                </a:lnTo>
                <a:lnTo>
                  <a:pt x="0" y="0"/>
                </a:lnTo>
                <a:lnTo>
                  <a:pt x="11440617" y="0"/>
                </a:lnTo>
                <a:lnTo>
                  <a:pt x="11440617" y="4731481"/>
                </a:lnTo>
                <a:close/>
              </a:path>
            </a:pathLst>
          </a:custGeom>
          <a:blipFill>
            <a:blip r:embed="rId4">
              <a:alphaModFix amt="5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4466" y="2856616"/>
            <a:ext cx="152260" cy="152260"/>
          </a:xfrm>
          <a:custGeom>
            <a:avLst/>
            <a:gdLst/>
            <a:ahLst/>
            <a:cxnLst/>
            <a:rect r="r" b="b" t="t" l="l"/>
            <a:pathLst>
              <a:path h="152260" w="152260">
                <a:moveTo>
                  <a:pt x="0" y="0"/>
                </a:moveTo>
                <a:lnTo>
                  <a:pt x="152259" y="0"/>
                </a:lnTo>
                <a:lnTo>
                  <a:pt x="152259" y="152259"/>
                </a:lnTo>
                <a:lnTo>
                  <a:pt x="0" y="1522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4466" y="4568072"/>
            <a:ext cx="152260" cy="152260"/>
          </a:xfrm>
          <a:custGeom>
            <a:avLst/>
            <a:gdLst/>
            <a:ahLst/>
            <a:cxnLst/>
            <a:rect r="r" b="b" t="t" l="l"/>
            <a:pathLst>
              <a:path h="152260" w="152260">
                <a:moveTo>
                  <a:pt x="0" y="0"/>
                </a:moveTo>
                <a:lnTo>
                  <a:pt x="152259" y="0"/>
                </a:lnTo>
                <a:lnTo>
                  <a:pt x="152259" y="152260"/>
                </a:lnTo>
                <a:lnTo>
                  <a:pt x="0" y="1522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454846" y="6466349"/>
            <a:ext cx="152260" cy="152260"/>
          </a:xfrm>
          <a:custGeom>
            <a:avLst/>
            <a:gdLst/>
            <a:ahLst/>
            <a:cxnLst/>
            <a:rect r="r" b="b" t="t" l="l"/>
            <a:pathLst>
              <a:path h="152260" w="152260">
                <a:moveTo>
                  <a:pt x="0" y="0"/>
                </a:moveTo>
                <a:lnTo>
                  <a:pt x="152260" y="0"/>
                </a:lnTo>
                <a:lnTo>
                  <a:pt x="152260" y="152259"/>
                </a:lnTo>
                <a:lnTo>
                  <a:pt x="0" y="1522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454846" y="7756486"/>
            <a:ext cx="152260" cy="152260"/>
          </a:xfrm>
          <a:custGeom>
            <a:avLst/>
            <a:gdLst/>
            <a:ahLst/>
            <a:cxnLst/>
            <a:rect r="r" b="b" t="t" l="l"/>
            <a:pathLst>
              <a:path h="152260" w="152260">
                <a:moveTo>
                  <a:pt x="0" y="0"/>
                </a:moveTo>
                <a:lnTo>
                  <a:pt x="152260" y="0"/>
                </a:lnTo>
                <a:lnTo>
                  <a:pt x="152260" y="152259"/>
                </a:lnTo>
                <a:lnTo>
                  <a:pt x="0" y="1522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726644"/>
            <a:ext cx="7828289" cy="671242"/>
            <a:chOff x="0" y="0"/>
            <a:chExt cx="10437719" cy="89498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79983" cy="894989"/>
              <a:chOff x="0" y="0"/>
              <a:chExt cx="42512" cy="21139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2512" cy="211396"/>
              </a:xfrm>
              <a:custGeom>
                <a:avLst/>
                <a:gdLst/>
                <a:ahLst/>
                <a:cxnLst/>
                <a:rect r="r" b="b" t="t" l="l"/>
                <a:pathLst>
                  <a:path h="211396" w="42512">
                    <a:moveTo>
                      <a:pt x="0" y="0"/>
                    </a:moveTo>
                    <a:lnTo>
                      <a:pt x="42512" y="0"/>
                    </a:lnTo>
                    <a:lnTo>
                      <a:pt x="42512" y="211396"/>
                    </a:lnTo>
                    <a:lnTo>
                      <a:pt x="0" y="211396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63F8D">
                      <a:alpha val="100000"/>
                    </a:srgbClr>
                  </a:gs>
                  <a:gs pos="100000">
                    <a:srgbClr val="A521C6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42512" cy="25902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73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345079" y="-28575"/>
              <a:ext cx="10092640" cy="4653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171" spc="225">
                  <a:solidFill>
                    <a:srgbClr val="E53999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RF-03 | Relaciones Académicas Complejas 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124950" y="1897380"/>
            <a:ext cx="19050" cy="6946975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4990560" y="2068533"/>
            <a:ext cx="1382622" cy="2203382"/>
          </a:xfrm>
          <a:custGeom>
            <a:avLst/>
            <a:gdLst/>
            <a:ahLst/>
            <a:cxnLst/>
            <a:rect r="r" b="b" t="t" l="l"/>
            <a:pathLst>
              <a:path h="2203382" w="1382622">
                <a:moveTo>
                  <a:pt x="0" y="0"/>
                </a:moveTo>
                <a:lnTo>
                  <a:pt x="1382622" y="0"/>
                </a:lnTo>
                <a:lnTo>
                  <a:pt x="1382622" y="2203383"/>
                </a:lnTo>
                <a:lnTo>
                  <a:pt x="0" y="22033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24466" y="1868470"/>
            <a:ext cx="7012541" cy="57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b="true" sz="3999" spc="79">
                <a:solidFill>
                  <a:srgbClr val="E53999"/>
                </a:solidFill>
                <a:latin typeface="Gotham Bold"/>
                <a:ea typeface="Gotham Bold"/>
                <a:cs typeface="Gotham Bold"/>
                <a:sym typeface="Gotham Bold"/>
              </a:rPr>
              <a:t>Trade-off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37047" y="2654781"/>
            <a:ext cx="7719942" cy="3388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6"/>
              </a:lnSpc>
            </a:pPr>
            <a:r>
              <a:rPr lang="en-US" sz="202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Complejida</a:t>
            </a:r>
            <a:r>
              <a:rPr lang="en-US" sz="202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 vs performance:</a:t>
            </a:r>
          </a:p>
          <a:p>
            <a:pPr algn="l">
              <a:lnSpc>
                <a:spcPts val="3446"/>
              </a:lnSpc>
            </a:pPr>
            <a:r>
              <a:rPr lang="en-US" sz="20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0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 incorpora Neo4j solo para relaciones, pero baja consultas de trayectorias de segundos a milisegundos.</a:t>
            </a:r>
          </a:p>
          <a:p>
            <a:pPr algn="l">
              <a:lnSpc>
                <a:spcPts val="3446"/>
              </a:lnSpc>
            </a:pPr>
          </a:p>
          <a:p>
            <a:pPr algn="l">
              <a:lnSpc>
                <a:spcPts val="3446"/>
              </a:lnSpc>
            </a:pPr>
            <a:r>
              <a:rPr lang="en-US" b="true" sz="202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Persi</a:t>
            </a:r>
            <a:r>
              <a:rPr lang="en-US" b="true" sz="202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stencia políglota: </a:t>
            </a:r>
            <a:r>
              <a:rPr lang="en-US" sz="20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 Neo4j va ID+nombre materia, lo pesado queda en MongoDB → ahorra RAM, pero exige</a:t>
            </a:r>
            <a:r>
              <a:rPr lang="en-US" sz="20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sincronización.</a:t>
            </a:r>
          </a:p>
          <a:p>
            <a:pPr algn="l">
              <a:lnSpc>
                <a:spcPts val="295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9705975" y="2626206"/>
            <a:ext cx="6835257" cy="1645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9"/>
              </a:lnSpc>
            </a:pPr>
            <a:r>
              <a:rPr lang="en-US" b="true" sz="3999" spc="415">
                <a:solidFill>
                  <a:srgbClr val="E53999"/>
                </a:solidFill>
                <a:latin typeface="Gotham Bold"/>
                <a:ea typeface="Gotham Bold"/>
                <a:cs typeface="Gotham Bold"/>
                <a:sym typeface="Gotham Bold"/>
              </a:rPr>
              <a:t>N-R-W </a:t>
            </a:r>
          </a:p>
          <a:p>
            <a:pPr algn="l">
              <a:lnSpc>
                <a:spcPts val="3408"/>
              </a:lnSpc>
            </a:pPr>
            <a:r>
              <a:rPr lang="en-US" sz="217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17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17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usan transacciones ACID y si no hay mayoría/consenso, la operación falla.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05975" y="6326192"/>
            <a:ext cx="7797934" cy="1957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8"/>
              </a:lnSpc>
              <a:spcBef>
                <a:spcPct val="0"/>
              </a:spcBef>
            </a:pPr>
            <a:r>
              <a:rPr lang="en-US" b="true" sz="20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Escalamiento Vertical: </a:t>
            </a:r>
          </a:p>
          <a:p>
            <a:pPr algn="l">
              <a:lnSpc>
                <a:spcPts val="2618"/>
              </a:lnSpc>
              <a:spcBef>
                <a:spcPct val="0"/>
              </a:spcBef>
            </a:pPr>
            <a:r>
              <a:rPr lang="en-US" sz="20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Más RAM en Core Servers para millones de relaciones.</a:t>
            </a:r>
          </a:p>
          <a:p>
            <a:pPr algn="l">
              <a:lnSpc>
                <a:spcPts val="2618"/>
              </a:lnSpc>
              <a:spcBef>
                <a:spcPct val="0"/>
              </a:spcBef>
            </a:pPr>
          </a:p>
          <a:p>
            <a:pPr algn="l">
              <a:lnSpc>
                <a:spcPts val="2618"/>
              </a:lnSpc>
              <a:spcBef>
                <a:spcPct val="0"/>
              </a:spcBef>
            </a:pPr>
          </a:p>
          <a:p>
            <a:pPr algn="l">
              <a:lnSpc>
                <a:spcPts val="2618"/>
              </a:lnSpc>
              <a:spcBef>
                <a:spcPct val="0"/>
              </a:spcBef>
            </a:pPr>
            <a:r>
              <a:rPr lang="en-US" b="true" sz="20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Escalamiento Horizontal (lectura): </a:t>
            </a:r>
            <a:r>
              <a:rPr lang="en-US" sz="20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Sumar Read Replicas si crece el volumen de consultas de paths.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05975" y="5516234"/>
            <a:ext cx="7012541" cy="57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3999" spc="79" b="true">
                <a:solidFill>
                  <a:srgbClr val="E53999"/>
                </a:solidFill>
                <a:latin typeface="Gotham Bold"/>
                <a:ea typeface="Gotham Bold"/>
                <a:cs typeface="Gotham Bold"/>
                <a:sym typeface="Gotham Bold"/>
              </a:rPr>
              <a:t>Escalamiento a futuro: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24466" y="6571848"/>
            <a:ext cx="7737606" cy="338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8"/>
              </a:lnSpc>
              <a:spcBef>
                <a:spcPct val="0"/>
              </a:spcBef>
            </a:pPr>
            <a:r>
              <a:rPr lang="en-US" sz="20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20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rafo completo en cada nodo.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24466" y="5963359"/>
            <a:ext cx="7012541" cy="57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3999" spc="79" b="true">
                <a:solidFill>
                  <a:srgbClr val="E53999"/>
                </a:solidFill>
                <a:latin typeface="Gotham Bold"/>
                <a:ea typeface="Gotham Bold"/>
                <a:cs typeface="Gotham Bold"/>
                <a:sym typeface="Gotham Bold"/>
              </a:rPr>
              <a:t>Sin sharding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24466" y="7263020"/>
            <a:ext cx="7012541" cy="57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3999" spc="79" b="true">
                <a:solidFill>
                  <a:srgbClr val="E53999"/>
                </a:solidFill>
                <a:latin typeface="Gotham Bold"/>
                <a:ea typeface="Gotham Bold"/>
                <a:cs typeface="Gotham Bold"/>
                <a:sym typeface="Gotham Bold"/>
              </a:rPr>
              <a:t>Cluster: Causal Cluster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28834" y="7961242"/>
            <a:ext cx="7833238" cy="986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8278" indent="-219139" lvl="1">
              <a:lnSpc>
                <a:spcPts val="2618"/>
              </a:lnSpc>
              <a:spcBef>
                <a:spcPct val="0"/>
              </a:spcBef>
              <a:buFont typeface="Arial"/>
              <a:buChar char="•"/>
            </a:pPr>
            <a:r>
              <a:rPr lang="en-US" sz="20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</a:t>
            </a:r>
            <a:r>
              <a:rPr lang="en-US" sz="20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 Servers ⟶ escrituras/consenso.</a:t>
            </a:r>
          </a:p>
          <a:p>
            <a:pPr algn="l" marL="438278" indent="-219139" lvl="1">
              <a:lnSpc>
                <a:spcPts val="2618"/>
              </a:lnSpc>
              <a:spcBef>
                <a:spcPct val="0"/>
              </a:spcBef>
              <a:buFont typeface="Arial"/>
              <a:buChar char="•"/>
            </a:pPr>
            <a:r>
              <a:rPr lang="en-US" sz="20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Read Replicas ⟶ escala lecturas (trayectorias).</a:t>
            </a:r>
          </a:p>
          <a:p>
            <a:pPr algn="l">
              <a:lnSpc>
                <a:spcPts val="261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C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26644"/>
            <a:ext cx="8532209" cy="671242"/>
            <a:chOff x="0" y="0"/>
            <a:chExt cx="11376278" cy="89498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79983" cy="894989"/>
              <a:chOff x="0" y="0"/>
              <a:chExt cx="42512" cy="21139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2512" cy="211396"/>
              </a:xfrm>
              <a:custGeom>
                <a:avLst/>
                <a:gdLst/>
                <a:ahLst/>
                <a:cxnLst/>
                <a:rect r="r" b="b" t="t" l="l"/>
                <a:pathLst>
                  <a:path h="211396" w="42512">
                    <a:moveTo>
                      <a:pt x="0" y="0"/>
                    </a:moveTo>
                    <a:lnTo>
                      <a:pt x="42512" y="0"/>
                    </a:lnTo>
                    <a:lnTo>
                      <a:pt x="42512" y="211396"/>
                    </a:lnTo>
                    <a:lnTo>
                      <a:pt x="0" y="211396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5C67E6">
                      <a:alpha val="100000"/>
                    </a:srgbClr>
                  </a:gs>
                  <a:gs pos="100000">
                    <a:srgbClr val="40D8B4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2512" cy="25902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73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345079" y="-28575"/>
              <a:ext cx="11031199" cy="4653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171" spc="225">
                  <a:solidFill>
                    <a:srgbClr val="49B1C5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RF-04 | Reportes Oficiales y Análisis Histórico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436956" y="1212057"/>
            <a:ext cx="592336" cy="750702"/>
          </a:xfrm>
          <a:custGeom>
            <a:avLst/>
            <a:gdLst/>
            <a:ahLst/>
            <a:cxnLst/>
            <a:rect r="r" b="b" t="t" l="l"/>
            <a:pathLst>
              <a:path h="750702" w="592336">
                <a:moveTo>
                  <a:pt x="0" y="0"/>
                </a:moveTo>
                <a:lnTo>
                  <a:pt x="592335" y="0"/>
                </a:lnTo>
                <a:lnTo>
                  <a:pt x="592335" y="750702"/>
                </a:lnTo>
                <a:lnTo>
                  <a:pt x="0" y="750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884569" y="2273253"/>
            <a:ext cx="49102" cy="598393"/>
            <a:chOff x="0" y="0"/>
            <a:chExt cx="12932" cy="15760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932" cy="157601"/>
            </a:xfrm>
            <a:custGeom>
              <a:avLst/>
              <a:gdLst/>
              <a:ahLst/>
              <a:cxnLst/>
              <a:rect r="r" b="b" t="t" l="l"/>
              <a:pathLst>
                <a:path h="157601" w="12932">
                  <a:moveTo>
                    <a:pt x="0" y="0"/>
                  </a:moveTo>
                  <a:lnTo>
                    <a:pt x="12932" y="0"/>
                  </a:lnTo>
                  <a:lnTo>
                    <a:pt x="12932" y="157601"/>
                  </a:lnTo>
                  <a:lnTo>
                    <a:pt x="0" y="157601"/>
                  </a:lnTo>
                  <a:close/>
                </a:path>
              </a:pathLst>
            </a:custGeom>
            <a:gradFill rotWithShape="true">
              <a:gsLst>
                <a:gs pos="0">
                  <a:srgbClr val="5C67E6">
                    <a:alpha val="100000"/>
                  </a:srgbClr>
                </a:gs>
                <a:gs pos="100000">
                  <a:srgbClr val="40D8B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932" cy="195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884569" y="4545107"/>
            <a:ext cx="49102" cy="598393"/>
            <a:chOff x="0" y="0"/>
            <a:chExt cx="12932" cy="157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932" cy="157601"/>
            </a:xfrm>
            <a:custGeom>
              <a:avLst/>
              <a:gdLst/>
              <a:ahLst/>
              <a:cxnLst/>
              <a:rect r="r" b="b" t="t" l="l"/>
              <a:pathLst>
                <a:path h="157601" w="12932">
                  <a:moveTo>
                    <a:pt x="0" y="0"/>
                  </a:moveTo>
                  <a:lnTo>
                    <a:pt x="12932" y="0"/>
                  </a:lnTo>
                  <a:lnTo>
                    <a:pt x="12932" y="157601"/>
                  </a:lnTo>
                  <a:lnTo>
                    <a:pt x="0" y="157601"/>
                  </a:lnTo>
                  <a:close/>
                </a:path>
              </a:pathLst>
            </a:custGeom>
            <a:gradFill rotWithShape="true">
              <a:gsLst>
                <a:gs pos="0">
                  <a:srgbClr val="5C67E6">
                    <a:alpha val="100000"/>
                  </a:srgbClr>
                </a:gs>
                <a:gs pos="100000">
                  <a:srgbClr val="40D8B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932" cy="195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933672" y="7183044"/>
            <a:ext cx="49102" cy="598393"/>
            <a:chOff x="0" y="0"/>
            <a:chExt cx="12932" cy="1576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932" cy="157601"/>
            </a:xfrm>
            <a:custGeom>
              <a:avLst/>
              <a:gdLst/>
              <a:ahLst/>
              <a:cxnLst/>
              <a:rect r="r" b="b" t="t" l="l"/>
              <a:pathLst>
                <a:path h="157601" w="12932">
                  <a:moveTo>
                    <a:pt x="0" y="0"/>
                  </a:moveTo>
                  <a:lnTo>
                    <a:pt x="12932" y="0"/>
                  </a:lnTo>
                  <a:lnTo>
                    <a:pt x="12932" y="157601"/>
                  </a:lnTo>
                  <a:lnTo>
                    <a:pt x="0" y="157601"/>
                  </a:lnTo>
                  <a:close/>
                </a:path>
              </a:pathLst>
            </a:custGeom>
            <a:gradFill rotWithShape="true">
              <a:gsLst>
                <a:gs pos="0">
                  <a:srgbClr val="5C67E6">
                    <a:alpha val="100000"/>
                  </a:srgbClr>
                </a:gs>
                <a:gs pos="100000">
                  <a:srgbClr val="40D8B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932" cy="195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436956" y="2871646"/>
            <a:ext cx="5819627" cy="5819627"/>
          </a:xfrm>
          <a:custGeom>
            <a:avLst/>
            <a:gdLst/>
            <a:ahLst/>
            <a:cxnLst/>
            <a:rect r="r" b="b" t="t" l="l"/>
            <a:pathLst>
              <a:path h="5819627" w="5819627">
                <a:moveTo>
                  <a:pt x="0" y="0"/>
                </a:moveTo>
                <a:lnTo>
                  <a:pt x="5819627" y="0"/>
                </a:lnTo>
                <a:lnTo>
                  <a:pt x="5819627" y="5819628"/>
                </a:lnTo>
                <a:lnTo>
                  <a:pt x="0" y="5819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246223" y="1405874"/>
            <a:ext cx="9238942" cy="315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4"/>
              </a:lnSpc>
              <a:spcBef>
                <a:spcPct val="0"/>
              </a:spcBef>
            </a:pPr>
            <a:r>
              <a:rPr lang="en-US" b="true" sz="176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DB ⟶  Cassandra -  Wide-Column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0" y="1901733"/>
            <a:ext cx="8756126" cy="1244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2"/>
              </a:lnSpc>
            </a:pPr>
            <a:r>
              <a:rPr lang="en-US" sz="2530" b="true">
                <a:solidFill>
                  <a:srgbClr val="29AFD3"/>
                </a:solidFill>
                <a:latin typeface="Poppins Bold"/>
                <a:ea typeface="Poppins Bold"/>
                <a:cs typeface="Poppins Bold"/>
                <a:sym typeface="Poppins Bold"/>
              </a:rPr>
              <a:t>CAP ⟶ AP:</a:t>
            </a:r>
          </a:p>
          <a:p>
            <a:pPr algn="l">
              <a:lnSpc>
                <a:spcPts val="3122"/>
              </a:lnSpc>
              <a:spcBef>
                <a:spcPct val="0"/>
              </a:spcBef>
            </a:pPr>
            <a:r>
              <a:rPr lang="en-US" sz="22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2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isponibilidad primero; consistencia eventual aceptable para métricas históricas.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0" y="3520307"/>
            <a:ext cx="8345446" cy="2806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2"/>
              </a:lnSpc>
            </a:pPr>
            <a:r>
              <a:rPr lang="en-US" sz="2530" b="true">
                <a:solidFill>
                  <a:srgbClr val="29AFD3"/>
                </a:solidFill>
                <a:latin typeface="Poppins Bold"/>
                <a:ea typeface="Poppins Bold"/>
                <a:cs typeface="Poppins Bold"/>
                <a:sym typeface="Poppins Bold"/>
              </a:rPr>
              <a:t>Pros:  </a:t>
            </a:r>
          </a:p>
          <a:p>
            <a:pPr algn="l" marL="481468" indent="-240734" lvl="1">
              <a:lnSpc>
                <a:spcPts val="3122"/>
              </a:lnSpc>
              <a:buFont typeface="Arial"/>
              <a:buChar char="•"/>
            </a:pPr>
            <a:r>
              <a:rPr lang="en-US" b="true" sz="22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Escritu</a:t>
            </a:r>
            <a:r>
              <a:rPr lang="en-US" b="true" sz="22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ra masiva y lineal: </a:t>
            </a:r>
            <a:r>
              <a:rPr lang="en-US" sz="22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inserta grandes volúmenes con alta eficiencia. </a:t>
            </a:r>
          </a:p>
          <a:p>
            <a:pPr algn="l" marL="481468" indent="-240734" lvl="1">
              <a:lnSpc>
                <a:spcPts val="3122"/>
              </a:lnSpc>
              <a:buFont typeface="Arial"/>
              <a:buChar char="•"/>
            </a:pPr>
            <a:r>
              <a:rPr lang="en-US" b="true" sz="22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Modelado query-driven:</a:t>
            </a:r>
            <a:r>
              <a:rPr lang="en-US" sz="22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tablas diseñadas para el reporte final → lecturas secuenciales rápidas.</a:t>
            </a:r>
          </a:p>
          <a:p>
            <a:pPr algn="l" marL="481468" indent="-240734" lvl="1">
              <a:lnSpc>
                <a:spcPts val="3122"/>
              </a:lnSpc>
              <a:buFont typeface="Arial"/>
              <a:buChar char="•"/>
            </a:pPr>
            <a:r>
              <a:rPr lang="en-US" b="true" sz="22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Masterless / peer-to-peer:</a:t>
            </a:r>
            <a:r>
              <a:rPr lang="en-US" sz="22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sin cuello de botella → escala agregando nodos.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0" y="6631678"/>
            <a:ext cx="8115300" cy="296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3"/>
              </a:lnSpc>
            </a:pPr>
            <a:r>
              <a:rPr lang="en-US" sz="2553" b="true">
                <a:solidFill>
                  <a:srgbClr val="29AFD3"/>
                </a:solidFill>
                <a:latin typeface="Poppins Bold"/>
                <a:ea typeface="Poppins Bold"/>
                <a:cs typeface="Poppins Bold"/>
                <a:sym typeface="Poppins Bold"/>
              </a:rPr>
              <a:t>Contras: </a:t>
            </a:r>
          </a:p>
          <a:p>
            <a:pPr algn="l" marL="508215" indent="-254107" lvl="1">
              <a:lnSpc>
                <a:spcPts val="3883"/>
              </a:lnSpc>
              <a:buFont typeface="Arial"/>
              <a:buChar char="•"/>
            </a:pPr>
            <a:r>
              <a:rPr lang="en-US" b="true" sz="235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Rig</a:t>
            </a:r>
            <a:r>
              <a:rPr lang="en-US" b="true" sz="235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idez de consulta:</a:t>
            </a:r>
            <a:r>
              <a:rPr lang="en-US" sz="23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por clave primaria + duplicación de datos por múltiples vistas.</a:t>
            </a:r>
          </a:p>
          <a:p>
            <a:pPr algn="l" marL="508215" indent="-254107" lvl="1">
              <a:lnSpc>
                <a:spcPts val="3883"/>
              </a:lnSpc>
              <a:buFont typeface="Arial"/>
              <a:buChar char="•"/>
            </a:pPr>
            <a:r>
              <a:rPr lang="en-US" b="true" sz="235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Duplicación de datos:</a:t>
            </a:r>
            <a:r>
              <a:rPr lang="en-US" sz="23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Como hay múltiples vistas de reportes, se duplican tablas y aumenta el almacenamiento.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C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657962">
            <a:off x="8641873" y="-3533592"/>
            <a:ext cx="10835856" cy="4481372"/>
          </a:xfrm>
          <a:custGeom>
            <a:avLst/>
            <a:gdLst/>
            <a:ahLst/>
            <a:cxnLst/>
            <a:rect r="r" b="b" t="t" l="l"/>
            <a:pathLst>
              <a:path h="4481372" w="10835856">
                <a:moveTo>
                  <a:pt x="0" y="4481371"/>
                </a:moveTo>
                <a:lnTo>
                  <a:pt x="10835856" y="4481371"/>
                </a:lnTo>
                <a:lnTo>
                  <a:pt x="10835856" y="0"/>
                </a:lnTo>
                <a:lnTo>
                  <a:pt x="0" y="0"/>
                </a:lnTo>
                <a:lnTo>
                  <a:pt x="0" y="448137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9437973">
            <a:off x="-3860469" y="8388573"/>
            <a:ext cx="11440617" cy="4731482"/>
          </a:xfrm>
          <a:custGeom>
            <a:avLst/>
            <a:gdLst/>
            <a:ahLst/>
            <a:cxnLst/>
            <a:rect r="r" b="b" t="t" l="l"/>
            <a:pathLst>
              <a:path h="4731482" w="11440617">
                <a:moveTo>
                  <a:pt x="11440617" y="4731481"/>
                </a:moveTo>
                <a:lnTo>
                  <a:pt x="0" y="4731481"/>
                </a:lnTo>
                <a:lnTo>
                  <a:pt x="0" y="0"/>
                </a:lnTo>
                <a:lnTo>
                  <a:pt x="11440617" y="0"/>
                </a:lnTo>
                <a:lnTo>
                  <a:pt x="11440617" y="4731481"/>
                </a:lnTo>
                <a:close/>
              </a:path>
            </a:pathLst>
          </a:custGeom>
          <a:blipFill>
            <a:blip r:embed="rId4">
              <a:alphaModFix amt="5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4466" y="2856616"/>
            <a:ext cx="152260" cy="152260"/>
          </a:xfrm>
          <a:custGeom>
            <a:avLst/>
            <a:gdLst/>
            <a:ahLst/>
            <a:cxnLst/>
            <a:rect r="r" b="b" t="t" l="l"/>
            <a:pathLst>
              <a:path h="152260" w="152260">
                <a:moveTo>
                  <a:pt x="0" y="0"/>
                </a:moveTo>
                <a:lnTo>
                  <a:pt x="152259" y="0"/>
                </a:lnTo>
                <a:lnTo>
                  <a:pt x="152259" y="152259"/>
                </a:lnTo>
                <a:lnTo>
                  <a:pt x="0" y="1522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4466" y="4568072"/>
            <a:ext cx="152260" cy="152260"/>
          </a:xfrm>
          <a:custGeom>
            <a:avLst/>
            <a:gdLst/>
            <a:ahLst/>
            <a:cxnLst/>
            <a:rect r="r" b="b" t="t" l="l"/>
            <a:pathLst>
              <a:path h="152260" w="152260">
                <a:moveTo>
                  <a:pt x="0" y="0"/>
                </a:moveTo>
                <a:lnTo>
                  <a:pt x="152259" y="0"/>
                </a:lnTo>
                <a:lnTo>
                  <a:pt x="152259" y="152260"/>
                </a:lnTo>
                <a:lnTo>
                  <a:pt x="0" y="1522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377565" y="7062391"/>
            <a:ext cx="152260" cy="152260"/>
          </a:xfrm>
          <a:custGeom>
            <a:avLst/>
            <a:gdLst/>
            <a:ahLst/>
            <a:cxnLst/>
            <a:rect r="r" b="b" t="t" l="l"/>
            <a:pathLst>
              <a:path h="152260" w="152260">
                <a:moveTo>
                  <a:pt x="0" y="0"/>
                </a:moveTo>
                <a:lnTo>
                  <a:pt x="152259" y="0"/>
                </a:lnTo>
                <a:lnTo>
                  <a:pt x="152259" y="152259"/>
                </a:lnTo>
                <a:lnTo>
                  <a:pt x="0" y="1522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24466" y="8423104"/>
            <a:ext cx="9100031" cy="338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8"/>
              </a:lnSpc>
              <a:spcBef>
                <a:spcPct val="0"/>
              </a:spcBef>
            </a:pPr>
            <a:r>
              <a:rPr lang="en-US" sz="20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Nodos</a:t>
            </a:r>
            <a:r>
              <a:rPr lang="en-US" sz="20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equivalentes → si uno cae, otro responde consultas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726644"/>
            <a:ext cx="8532209" cy="671242"/>
            <a:chOff x="0" y="0"/>
            <a:chExt cx="11376278" cy="89498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79983" cy="894989"/>
              <a:chOff x="0" y="0"/>
              <a:chExt cx="42512" cy="21139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2512" cy="211396"/>
              </a:xfrm>
              <a:custGeom>
                <a:avLst/>
                <a:gdLst/>
                <a:ahLst/>
                <a:cxnLst/>
                <a:rect r="r" b="b" t="t" l="l"/>
                <a:pathLst>
                  <a:path h="211396" w="42512">
                    <a:moveTo>
                      <a:pt x="0" y="0"/>
                    </a:moveTo>
                    <a:lnTo>
                      <a:pt x="42512" y="0"/>
                    </a:lnTo>
                    <a:lnTo>
                      <a:pt x="42512" y="211396"/>
                    </a:lnTo>
                    <a:lnTo>
                      <a:pt x="0" y="211396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5C67E6">
                      <a:alpha val="100000"/>
                    </a:srgbClr>
                  </a:gs>
                  <a:gs pos="100000">
                    <a:srgbClr val="40D8B4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42512" cy="25902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73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345079" y="-28575"/>
              <a:ext cx="11031199" cy="4653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171" spc="225">
                  <a:solidFill>
                    <a:srgbClr val="49B1C5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RF-04 | Reportes Oficiales y Análisis Histórico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579959" y="2160209"/>
            <a:ext cx="0" cy="649224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true" flipV="false" rot="0">
            <a:off x="10070800" y="3062450"/>
            <a:ext cx="439974" cy="951296"/>
          </a:xfrm>
          <a:custGeom>
            <a:avLst/>
            <a:gdLst/>
            <a:ahLst/>
            <a:cxnLst/>
            <a:rect r="r" b="b" t="t" l="l"/>
            <a:pathLst>
              <a:path h="951296" w="439974">
                <a:moveTo>
                  <a:pt x="439974" y="0"/>
                </a:moveTo>
                <a:lnTo>
                  <a:pt x="0" y="0"/>
                </a:lnTo>
                <a:lnTo>
                  <a:pt x="0" y="951295"/>
                </a:lnTo>
                <a:lnTo>
                  <a:pt x="439974" y="951295"/>
                </a:lnTo>
                <a:lnTo>
                  <a:pt x="4399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24466" y="1868470"/>
            <a:ext cx="7012541" cy="57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b="true" sz="3999" spc="79">
                <a:solidFill>
                  <a:srgbClr val="49B1C5"/>
                </a:solidFill>
                <a:latin typeface="Gotham Bold"/>
                <a:ea typeface="Gotham Bold"/>
                <a:cs typeface="Gotham Bold"/>
                <a:sym typeface="Gotham Bold"/>
              </a:rPr>
              <a:t>Trade-off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37047" y="2654781"/>
            <a:ext cx="8279438" cy="3388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6"/>
              </a:lnSpc>
            </a:pPr>
            <a:r>
              <a:rPr lang="en-US" sz="202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Storage</a:t>
            </a:r>
            <a:r>
              <a:rPr lang="en-US" sz="202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vs Compute:</a:t>
            </a:r>
          </a:p>
          <a:p>
            <a:pPr algn="l">
              <a:lnSpc>
                <a:spcPts val="3446"/>
              </a:lnSpc>
            </a:pPr>
            <a:r>
              <a:rPr lang="en-US" sz="20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0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ás disco para dato “pre-cocinado” y menos CPU en dashboards.</a:t>
            </a:r>
          </a:p>
          <a:p>
            <a:pPr algn="l">
              <a:lnSpc>
                <a:spcPts val="3446"/>
              </a:lnSpc>
            </a:pPr>
          </a:p>
          <a:p>
            <a:pPr algn="l">
              <a:lnSpc>
                <a:spcPts val="3446"/>
              </a:lnSpc>
            </a:pPr>
            <a:r>
              <a:rPr lang="en-US" b="true" sz="202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Consi</a:t>
            </a:r>
            <a:r>
              <a:rPr lang="en-US" b="true" sz="202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stencia tunable: </a:t>
            </a:r>
            <a:r>
              <a:rPr lang="en-US" sz="20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Ajustamos la consistencia para un Sistema “always on”, aceptando que la propagación entre réplicas no sea in</a:t>
            </a:r>
            <a:r>
              <a:rPr lang="en-US" sz="20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stantánea.</a:t>
            </a:r>
          </a:p>
          <a:p>
            <a:pPr algn="l">
              <a:lnSpc>
                <a:spcPts val="295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0633483" y="2000868"/>
            <a:ext cx="7173672" cy="2931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9"/>
              </a:lnSpc>
            </a:pPr>
          </a:p>
          <a:p>
            <a:pPr algn="l">
              <a:lnSpc>
                <a:spcPts val="3408"/>
              </a:lnSpc>
            </a:pPr>
            <a:r>
              <a:rPr lang="en-US" b="true" sz="217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 ⟶ 3, R ⟶ 1, W ⟶ 1</a:t>
            </a:r>
          </a:p>
          <a:p>
            <a:pPr algn="l">
              <a:lnSpc>
                <a:spcPts val="3408"/>
              </a:lnSpc>
            </a:pPr>
          </a:p>
          <a:p>
            <a:pPr algn="l">
              <a:lnSpc>
                <a:spcPts val="3408"/>
              </a:lnSpc>
            </a:pPr>
            <a:r>
              <a:rPr lang="en-US" b="true" sz="217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 </a:t>
            </a:r>
            <a:r>
              <a:rPr lang="en-US" b="true" sz="217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esto</a:t>
            </a:r>
            <a:r>
              <a:rPr lang="en-US" b="true" sz="217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priorizo AP:</a:t>
            </a:r>
          </a:p>
          <a:p>
            <a:pPr algn="l">
              <a:lnSpc>
                <a:spcPts val="3408"/>
              </a:lnSpc>
            </a:pPr>
            <a:r>
              <a:rPr lang="en-US" sz="217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“always on” con lecturas potencialmente stale por segundos.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633483" y="6940502"/>
            <a:ext cx="6697152" cy="986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8"/>
              </a:lnSpc>
              <a:spcBef>
                <a:spcPct val="0"/>
              </a:spcBef>
            </a:pPr>
            <a:r>
              <a:rPr lang="en-US" b="true" sz="20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Escalamiento Lineal: </a:t>
            </a:r>
          </a:p>
          <a:p>
            <a:pPr algn="l">
              <a:lnSpc>
                <a:spcPts val="2618"/>
              </a:lnSpc>
              <a:spcBef>
                <a:spcPct val="0"/>
              </a:spcBef>
            </a:pPr>
            <a:r>
              <a:rPr lang="en-US" sz="20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Agregar nodos sin reestructurar.</a:t>
            </a:r>
          </a:p>
          <a:p>
            <a:pPr algn="l">
              <a:lnSpc>
                <a:spcPts val="2618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0290787" y="6071676"/>
            <a:ext cx="6022627" cy="57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b="true" sz="3999" spc="79">
                <a:solidFill>
                  <a:srgbClr val="29AFD3"/>
                </a:solidFill>
                <a:latin typeface="Gotham Bold"/>
                <a:ea typeface="Gotham Bold"/>
                <a:cs typeface="Gotham Bold"/>
                <a:sym typeface="Gotham Bold"/>
              </a:rPr>
              <a:t>Escalamiento a futuro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24466" y="6628253"/>
            <a:ext cx="7987384" cy="662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8"/>
              </a:lnSpc>
              <a:spcBef>
                <a:spcPct val="0"/>
              </a:spcBef>
            </a:pPr>
            <a:r>
              <a:rPr lang="en-US" sz="20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Región + Añ</a:t>
            </a:r>
            <a:r>
              <a:rPr lang="en-US" sz="20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Académico → datos “juntos” → lectura secuencial en consultas masivas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24466" y="5963359"/>
            <a:ext cx="7012541" cy="57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b="true" sz="3999" spc="79">
                <a:solidFill>
                  <a:srgbClr val="29AFD3"/>
                </a:solidFill>
                <a:latin typeface="Gotham Bold"/>
                <a:ea typeface="Gotham Bold"/>
                <a:cs typeface="Gotham Bold"/>
                <a:sym typeface="Gotham Bold"/>
              </a:rPr>
              <a:t>Sharding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24466" y="7643275"/>
            <a:ext cx="7012541" cy="57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b="true" sz="3999" spc="79">
                <a:solidFill>
                  <a:srgbClr val="29AFD3"/>
                </a:solidFill>
                <a:latin typeface="Gotham Bold"/>
                <a:ea typeface="Gotham Bold"/>
                <a:cs typeface="Gotham Bold"/>
                <a:sym typeface="Gotham Bold"/>
              </a:rPr>
              <a:t>Masterless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90787" y="2073755"/>
            <a:ext cx="1966436" cy="57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39"/>
              </a:lnSpc>
              <a:spcBef>
                <a:spcPct val="0"/>
              </a:spcBef>
            </a:pPr>
            <a:r>
              <a:rPr lang="en-US" b="true" sz="3999" spc="79" strike="noStrike" u="none">
                <a:solidFill>
                  <a:srgbClr val="29AFD3"/>
                </a:solidFill>
                <a:latin typeface="Gotham Bold"/>
                <a:ea typeface="Gotham Bold"/>
                <a:cs typeface="Gotham Bold"/>
                <a:sym typeface="Gotham Bold"/>
              </a:rPr>
              <a:t>N-R-W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C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6956" y="1212057"/>
            <a:ext cx="592336" cy="750702"/>
          </a:xfrm>
          <a:custGeom>
            <a:avLst/>
            <a:gdLst/>
            <a:ahLst/>
            <a:cxnLst/>
            <a:rect r="r" b="b" t="t" l="l"/>
            <a:pathLst>
              <a:path h="750702" w="592336">
                <a:moveTo>
                  <a:pt x="0" y="0"/>
                </a:moveTo>
                <a:lnTo>
                  <a:pt x="592335" y="0"/>
                </a:lnTo>
                <a:lnTo>
                  <a:pt x="592335" y="750702"/>
                </a:lnTo>
                <a:lnTo>
                  <a:pt x="0" y="750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680206" y="2458135"/>
            <a:ext cx="49102" cy="598393"/>
            <a:chOff x="0" y="0"/>
            <a:chExt cx="12932" cy="1576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932" cy="157601"/>
            </a:xfrm>
            <a:custGeom>
              <a:avLst/>
              <a:gdLst/>
              <a:ahLst/>
              <a:cxnLst/>
              <a:rect r="r" b="b" t="t" l="l"/>
              <a:pathLst>
                <a:path h="157601" w="12932">
                  <a:moveTo>
                    <a:pt x="0" y="0"/>
                  </a:moveTo>
                  <a:lnTo>
                    <a:pt x="12932" y="0"/>
                  </a:lnTo>
                  <a:lnTo>
                    <a:pt x="12932" y="157601"/>
                  </a:lnTo>
                  <a:lnTo>
                    <a:pt x="0" y="157601"/>
                  </a:lnTo>
                  <a:close/>
                </a:path>
              </a:pathLst>
            </a:custGeom>
            <a:gradFill rotWithShape="true">
              <a:gsLst>
                <a:gs pos="0">
                  <a:srgbClr val="5C67E6">
                    <a:alpha val="100000"/>
                  </a:srgbClr>
                </a:gs>
                <a:gs pos="100000">
                  <a:srgbClr val="40D8B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932" cy="195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655654" y="5114514"/>
            <a:ext cx="49102" cy="598393"/>
            <a:chOff x="0" y="0"/>
            <a:chExt cx="12932" cy="1576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932" cy="157601"/>
            </a:xfrm>
            <a:custGeom>
              <a:avLst/>
              <a:gdLst/>
              <a:ahLst/>
              <a:cxnLst/>
              <a:rect r="r" b="b" t="t" l="l"/>
              <a:pathLst>
                <a:path h="157601" w="12932">
                  <a:moveTo>
                    <a:pt x="0" y="0"/>
                  </a:moveTo>
                  <a:lnTo>
                    <a:pt x="12932" y="0"/>
                  </a:lnTo>
                  <a:lnTo>
                    <a:pt x="12932" y="157601"/>
                  </a:lnTo>
                  <a:lnTo>
                    <a:pt x="0" y="157601"/>
                  </a:lnTo>
                  <a:close/>
                </a:path>
              </a:pathLst>
            </a:custGeom>
            <a:gradFill rotWithShape="true">
              <a:gsLst>
                <a:gs pos="0">
                  <a:srgbClr val="5C67E6">
                    <a:alpha val="100000"/>
                  </a:srgbClr>
                </a:gs>
                <a:gs pos="100000">
                  <a:srgbClr val="40D8B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932" cy="195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680206" y="7770894"/>
            <a:ext cx="49102" cy="598393"/>
            <a:chOff x="0" y="0"/>
            <a:chExt cx="12932" cy="1576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932" cy="157601"/>
            </a:xfrm>
            <a:custGeom>
              <a:avLst/>
              <a:gdLst/>
              <a:ahLst/>
              <a:cxnLst/>
              <a:rect r="r" b="b" t="t" l="l"/>
              <a:pathLst>
                <a:path h="157601" w="12932">
                  <a:moveTo>
                    <a:pt x="0" y="0"/>
                  </a:moveTo>
                  <a:lnTo>
                    <a:pt x="12932" y="0"/>
                  </a:lnTo>
                  <a:lnTo>
                    <a:pt x="12932" y="157601"/>
                  </a:lnTo>
                  <a:lnTo>
                    <a:pt x="0" y="157601"/>
                  </a:lnTo>
                  <a:close/>
                </a:path>
              </a:pathLst>
            </a:custGeom>
            <a:gradFill rotWithShape="true">
              <a:gsLst>
                <a:gs pos="0">
                  <a:srgbClr val="5C67E6">
                    <a:alpha val="100000"/>
                  </a:srgbClr>
                </a:gs>
                <a:gs pos="100000">
                  <a:srgbClr val="40D8B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932" cy="195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436956" y="3146205"/>
            <a:ext cx="5592162" cy="5602348"/>
          </a:xfrm>
          <a:custGeom>
            <a:avLst/>
            <a:gdLst/>
            <a:ahLst/>
            <a:cxnLst/>
            <a:rect r="r" b="b" t="t" l="l"/>
            <a:pathLst>
              <a:path h="5602348" w="5592162">
                <a:moveTo>
                  <a:pt x="0" y="0"/>
                </a:moveTo>
                <a:lnTo>
                  <a:pt x="5592162" y="0"/>
                </a:lnTo>
                <a:lnTo>
                  <a:pt x="5592162" y="5602348"/>
                </a:lnTo>
                <a:lnTo>
                  <a:pt x="0" y="56023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246223" y="1405874"/>
            <a:ext cx="9238942" cy="315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4"/>
              </a:lnSpc>
              <a:spcBef>
                <a:spcPct val="0"/>
              </a:spcBef>
            </a:pPr>
            <a:r>
              <a:rPr lang="en-US" b="true" sz="176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DB ⟶  Cassandra -  Wide-Column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13854" y="2096996"/>
            <a:ext cx="8455851" cy="1244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2"/>
              </a:lnSpc>
            </a:pPr>
            <a:r>
              <a:rPr lang="en-US" sz="2530" b="true">
                <a:solidFill>
                  <a:srgbClr val="49B1C5"/>
                </a:solidFill>
                <a:latin typeface="Poppins Bold"/>
                <a:ea typeface="Poppins Bold"/>
                <a:cs typeface="Poppins Bold"/>
                <a:sym typeface="Poppins Bold"/>
              </a:rPr>
              <a:t>CAP ⟶ CP:</a:t>
            </a:r>
          </a:p>
          <a:p>
            <a:pPr algn="l">
              <a:lnSpc>
                <a:spcPts val="3122"/>
              </a:lnSpc>
            </a:pPr>
            <a:r>
              <a:rPr lang="en-US" sz="22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Auditoría requiere consistencia; sin quórum se rechaza para evitar rastros incompletos.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13854" y="4531362"/>
            <a:ext cx="8345446" cy="2025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2"/>
              </a:lnSpc>
            </a:pPr>
            <a:r>
              <a:rPr lang="en-US" sz="2530" b="true">
                <a:solidFill>
                  <a:srgbClr val="49B1C5"/>
                </a:solidFill>
                <a:latin typeface="Poppins Bold"/>
                <a:ea typeface="Poppins Bold"/>
                <a:cs typeface="Poppins Bold"/>
                <a:sym typeface="Poppins Bold"/>
              </a:rPr>
              <a:t>Pros:  </a:t>
            </a:r>
          </a:p>
          <a:p>
            <a:pPr algn="l" marL="481468" indent="-240734" lvl="1">
              <a:lnSpc>
                <a:spcPts val="3122"/>
              </a:lnSpc>
              <a:buFont typeface="Arial"/>
              <a:buChar char="•"/>
            </a:pPr>
            <a:r>
              <a:rPr lang="en-US" b="true" sz="22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Escritu</a:t>
            </a:r>
            <a:r>
              <a:rPr lang="en-US" b="true" sz="22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ra masiva:</a:t>
            </a:r>
            <a:r>
              <a:rPr lang="en-US" sz="22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LSM Trees → escrituras secuenciales bajo carga extrema.</a:t>
            </a:r>
          </a:p>
          <a:p>
            <a:pPr algn="l" marL="481468" indent="-240734" lvl="1">
              <a:lnSpc>
                <a:spcPts val="3122"/>
              </a:lnSpc>
              <a:buFont typeface="Arial"/>
              <a:buChar char="•"/>
            </a:pPr>
            <a:r>
              <a:rPr lang="en-US" b="true" sz="22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Series temporales:</a:t>
            </a:r>
            <a:r>
              <a:rPr lang="en-US" sz="22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timestamp como clustering key.</a:t>
            </a:r>
          </a:p>
          <a:p>
            <a:pPr algn="l" marL="481468" indent="-240734" lvl="1">
              <a:lnSpc>
                <a:spcPts val="3122"/>
              </a:lnSpc>
              <a:buFont typeface="Arial"/>
              <a:buChar char="•"/>
            </a:pPr>
            <a:r>
              <a:rPr lang="en-US" b="true" sz="22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TTL</a:t>
            </a:r>
            <a:r>
              <a:rPr lang="en-US" sz="22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retención (ej. 5 años) y limpieza automática.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913854" y="7255583"/>
            <a:ext cx="8455851" cy="247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3"/>
              </a:lnSpc>
            </a:pPr>
            <a:r>
              <a:rPr lang="en-US" sz="2553" b="true">
                <a:solidFill>
                  <a:srgbClr val="49B1C5"/>
                </a:solidFill>
                <a:latin typeface="Poppins Bold"/>
                <a:ea typeface="Poppins Bold"/>
                <a:cs typeface="Poppins Bold"/>
                <a:sym typeface="Poppins Bold"/>
              </a:rPr>
              <a:t>Contras: </a:t>
            </a:r>
          </a:p>
          <a:p>
            <a:pPr algn="l" marL="508215" indent="-254107" lvl="1">
              <a:lnSpc>
                <a:spcPts val="3883"/>
              </a:lnSpc>
              <a:buFont typeface="Arial"/>
              <a:buChar char="•"/>
            </a:pPr>
            <a:r>
              <a:rPr lang="en-US" sz="23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Latencia </a:t>
            </a:r>
            <a:r>
              <a:rPr lang="en-US" sz="23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 escritura: QUORUM suma milisegundos extra (confirmar mayoría) </a:t>
            </a:r>
          </a:p>
          <a:p>
            <a:pPr algn="l" marL="508215" indent="-254107" lvl="1">
              <a:lnSpc>
                <a:spcPts val="3883"/>
              </a:lnSpc>
              <a:buFont typeface="Arial"/>
              <a:buChar char="•"/>
            </a:pPr>
            <a:r>
              <a:rPr lang="en-US" b="true" sz="235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Rigidez esquema</a:t>
            </a:r>
            <a:r>
              <a:rPr lang="en-US" sz="23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definir qué se audita; fuera de PK, consultas son ineficientes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28700" y="726644"/>
            <a:ext cx="9258835" cy="671242"/>
            <a:chOff x="0" y="0"/>
            <a:chExt cx="12345114" cy="894989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79983" cy="894989"/>
              <a:chOff x="0" y="0"/>
              <a:chExt cx="42512" cy="211396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42512" cy="211396"/>
              </a:xfrm>
              <a:custGeom>
                <a:avLst/>
                <a:gdLst/>
                <a:ahLst/>
                <a:cxnLst/>
                <a:rect r="r" b="b" t="t" l="l"/>
                <a:pathLst>
                  <a:path h="211396" w="42512">
                    <a:moveTo>
                      <a:pt x="0" y="0"/>
                    </a:moveTo>
                    <a:lnTo>
                      <a:pt x="42512" y="0"/>
                    </a:lnTo>
                    <a:lnTo>
                      <a:pt x="42512" y="211396"/>
                    </a:lnTo>
                    <a:lnTo>
                      <a:pt x="0" y="211396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5C67E6">
                      <a:alpha val="100000"/>
                    </a:srgbClr>
                  </a:gs>
                  <a:gs pos="100000">
                    <a:srgbClr val="40D8B4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42512" cy="25902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 marL="0" indent="0" lvl="0">
                  <a:lnSpc>
                    <a:spcPts val="273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345079" y="-28575"/>
              <a:ext cx="12000035" cy="4653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171" spc="225">
                  <a:solidFill>
                    <a:srgbClr val="49B1C5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RF-05 | Auditoría, Trazabilidad y Control Normativo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C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26644"/>
            <a:ext cx="134987" cy="671242"/>
            <a:chOff x="0" y="0"/>
            <a:chExt cx="42512" cy="2113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512" cy="211396"/>
            </a:xfrm>
            <a:custGeom>
              <a:avLst/>
              <a:gdLst/>
              <a:ahLst/>
              <a:cxnLst/>
              <a:rect r="r" b="b" t="t" l="l"/>
              <a:pathLst>
                <a:path h="211396" w="42512">
                  <a:moveTo>
                    <a:pt x="0" y="0"/>
                  </a:moveTo>
                  <a:lnTo>
                    <a:pt x="42512" y="0"/>
                  </a:lnTo>
                  <a:lnTo>
                    <a:pt x="42512" y="211396"/>
                  </a:lnTo>
                  <a:lnTo>
                    <a:pt x="0" y="211396"/>
                  </a:lnTo>
                  <a:close/>
                </a:path>
              </a:pathLst>
            </a:custGeom>
            <a:gradFill rotWithShape="true">
              <a:gsLst>
                <a:gs pos="0">
                  <a:srgbClr val="5C67E6">
                    <a:alpha val="100000"/>
                  </a:srgbClr>
                </a:gs>
                <a:gs pos="100000">
                  <a:srgbClr val="40D8B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2512" cy="2590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73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87510" y="698069"/>
            <a:ext cx="9000026" cy="35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171" spc="225">
                <a:solidFill>
                  <a:srgbClr val="49B1C5"/>
                </a:solidFill>
                <a:latin typeface="Gotham Bold"/>
                <a:ea typeface="Gotham Bold"/>
                <a:cs typeface="Gotham Bold"/>
                <a:sym typeface="Gotham Bold"/>
              </a:rPr>
              <a:t>RF-05 | Auditoría, Trazabilidad y Control Normativo</a:t>
            </a:r>
          </a:p>
        </p:txBody>
      </p:sp>
      <p:sp>
        <p:nvSpPr>
          <p:cNvPr name="Freeform 6" id="6"/>
          <p:cNvSpPr/>
          <p:nvPr/>
        </p:nvSpPr>
        <p:spPr>
          <a:xfrm flipH="true" flipV="true" rot="-9437973">
            <a:off x="-3860469" y="8388573"/>
            <a:ext cx="11440617" cy="4731482"/>
          </a:xfrm>
          <a:custGeom>
            <a:avLst/>
            <a:gdLst/>
            <a:ahLst/>
            <a:cxnLst/>
            <a:rect r="r" b="b" t="t" l="l"/>
            <a:pathLst>
              <a:path h="4731482" w="11440617">
                <a:moveTo>
                  <a:pt x="11440617" y="4731481"/>
                </a:moveTo>
                <a:lnTo>
                  <a:pt x="0" y="4731481"/>
                </a:lnTo>
                <a:lnTo>
                  <a:pt x="0" y="0"/>
                </a:lnTo>
                <a:lnTo>
                  <a:pt x="11440617" y="0"/>
                </a:lnTo>
                <a:lnTo>
                  <a:pt x="11440617" y="4731481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24466" y="3224831"/>
            <a:ext cx="152260" cy="152260"/>
          </a:xfrm>
          <a:custGeom>
            <a:avLst/>
            <a:gdLst/>
            <a:ahLst/>
            <a:cxnLst/>
            <a:rect r="r" b="b" t="t" l="l"/>
            <a:pathLst>
              <a:path h="152260" w="152260">
                <a:moveTo>
                  <a:pt x="0" y="0"/>
                </a:moveTo>
                <a:lnTo>
                  <a:pt x="152259" y="0"/>
                </a:lnTo>
                <a:lnTo>
                  <a:pt x="152259" y="152260"/>
                </a:lnTo>
                <a:lnTo>
                  <a:pt x="0" y="1522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24466" y="2236686"/>
            <a:ext cx="7012541" cy="57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b="true" sz="3999" spc="79">
                <a:solidFill>
                  <a:srgbClr val="49B1C5"/>
                </a:solidFill>
                <a:latin typeface="Gotham Bold"/>
                <a:ea typeface="Gotham Bold"/>
                <a:cs typeface="Gotham Bold"/>
                <a:sym typeface="Gotham Bold"/>
              </a:rPr>
              <a:t>Trade-off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37047" y="3022997"/>
            <a:ext cx="6699959" cy="253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6"/>
              </a:lnSpc>
            </a:pPr>
            <a:r>
              <a:rPr lang="en-US" sz="202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02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</a:t>
            </a:r>
            <a:r>
              <a:rPr lang="en-US" sz="202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atencia</a:t>
            </a:r>
            <a:r>
              <a:rPr lang="en-US" sz="202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vs garantía legal : </a:t>
            </a:r>
            <a:r>
              <a:rPr lang="en-US" sz="20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Acept</a:t>
            </a:r>
            <a:r>
              <a:rPr lang="en-US" sz="20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amos</a:t>
            </a:r>
            <a:r>
              <a:rPr lang="en-US" sz="20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un costo mínimo en tiempo para que un “guardado” quede consistente en todo el clúster.</a:t>
            </a:r>
          </a:p>
          <a:p>
            <a:pPr algn="l">
              <a:lnSpc>
                <a:spcPts val="3446"/>
              </a:lnSpc>
            </a:pPr>
          </a:p>
          <a:p>
            <a:pPr algn="l">
              <a:lnSpc>
                <a:spcPts val="3446"/>
              </a:lnSpc>
            </a:pPr>
          </a:p>
          <a:p>
            <a:pPr algn="l">
              <a:lnSpc>
                <a:spcPts val="295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1814380"/>
            <a:ext cx="9014701" cy="2931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9"/>
              </a:lnSpc>
            </a:pPr>
            <a:r>
              <a:rPr lang="en-US" b="true" sz="3999" spc="415">
                <a:solidFill>
                  <a:srgbClr val="29AFD3"/>
                </a:solidFill>
                <a:latin typeface="Gotham Bold"/>
                <a:ea typeface="Gotham Bold"/>
                <a:cs typeface="Gotham Bold"/>
                <a:sym typeface="Gotham Bold"/>
              </a:rPr>
              <a:t>N-R-W </a:t>
            </a:r>
          </a:p>
          <a:p>
            <a:pPr algn="l">
              <a:lnSpc>
                <a:spcPts val="3408"/>
              </a:lnSpc>
            </a:pPr>
            <a:r>
              <a:rPr lang="en-US" b="true" sz="217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 ⟶ 3</a:t>
            </a:r>
          </a:p>
          <a:p>
            <a:pPr algn="l">
              <a:lnSpc>
                <a:spcPts val="3408"/>
              </a:lnSpc>
            </a:pPr>
            <a:r>
              <a:rPr lang="en-US" b="true" sz="217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W=</a:t>
            </a:r>
            <a:r>
              <a:rPr lang="en-US" sz="217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QUORUM ⟶  confirma solo si escribe la mayoría. </a:t>
            </a:r>
          </a:p>
          <a:p>
            <a:pPr algn="l">
              <a:lnSpc>
                <a:spcPts val="3408"/>
              </a:lnSpc>
            </a:pPr>
            <a:r>
              <a:rPr lang="en-US" b="true" sz="217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R=</a:t>
            </a:r>
            <a:r>
              <a:rPr lang="en-US" sz="217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QUORUM ⟶  el auditor lee la versión más reciente confirmada. </a:t>
            </a:r>
          </a:p>
          <a:p>
            <a:pPr algn="l">
              <a:lnSpc>
                <a:spcPts val="3408"/>
              </a:lnSpc>
            </a:pPr>
          </a:p>
          <a:p>
            <a:pPr algn="l">
              <a:lnSpc>
                <a:spcPts val="3408"/>
              </a:lnSpc>
            </a:pPr>
            <a:r>
              <a:rPr lang="en-US" b="true" sz="217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Regla:  R + W &gt; N (2+2&gt;3) → </a:t>
            </a:r>
            <a:r>
              <a:rPr lang="en-US" sz="217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comportamiento CP</a:t>
            </a:r>
            <a:r>
              <a:rPr lang="en-US" b="true" sz="217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8178" y="5278794"/>
            <a:ext cx="7012541" cy="57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b="true" sz="3999" spc="79">
                <a:solidFill>
                  <a:srgbClr val="29AFD3"/>
                </a:solidFill>
                <a:latin typeface="Gotham Bold"/>
                <a:ea typeface="Gotham Bold"/>
                <a:cs typeface="Gotham Bold"/>
                <a:sym typeface="Gotham Bold"/>
              </a:rPr>
              <a:t>Escalamiento a futuro: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4466" y="5648612"/>
            <a:ext cx="6801196" cy="662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8"/>
              </a:lnSpc>
              <a:spcBef>
                <a:spcPct val="0"/>
              </a:spcBef>
            </a:pPr>
            <a:r>
              <a:rPr lang="en-US" sz="20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Partition Key =</a:t>
            </a:r>
            <a:r>
              <a:rPr lang="en-US" sz="20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entity_id + mes_año (bucket mensual, evita particiones enormes)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4466" y="5040122"/>
            <a:ext cx="7012541" cy="57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b="true" sz="3999" spc="79">
                <a:solidFill>
                  <a:srgbClr val="29AFD3"/>
                </a:solidFill>
                <a:latin typeface="Gotham Bold"/>
                <a:ea typeface="Gotham Bold"/>
                <a:cs typeface="Gotham Bold"/>
                <a:sym typeface="Gotham Bold"/>
              </a:rPr>
              <a:t>Sharding: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4466" y="7272123"/>
            <a:ext cx="7987384" cy="338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8"/>
              </a:lnSpc>
              <a:spcBef>
                <a:spcPct val="0"/>
              </a:spcBef>
            </a:pPr>
            <a:r>
              <a:rPr lang="en-US" sz="20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imestamp (orden temporal físico)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4466" y="6663634"/>
            <a:ext cx="7012541" cy="57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3999" spc="79" b="true">
                <a:solidFill>
                  <a:srgbClr val="29AFD3"/>
                </a:solidFill>
                <a:latin typeface="Gotham Bold"/>
                <a:ea typeface="Gotham Bold"/>
                <a:cs typeface="Gotham Bold"/>
                <a:sym typeface="Gotham Bold"/>
              </a:rPr>
              <a:t>Clust</a:t>
            </a:r>
            <a:r>
              <a:rPr lang="en-US" b="true" sz="3999" spc="79">
                <a:solidFill>
                  <a:srgbClr val="29AFD3"/>
                </a:solidFill>
                <a:latin typeface="Gotham Bold"/>
                <a:ea typeface="Gotham Bold"/>
                <a:cs typeface="Gotham Bold"/>
                <a:sym typeface="Gotham Bold"/>
              </a:rPr>
              <a:t>ering key: </a:t>
            </a:r>
          </a:p>
        </p:txBody>
      </p:sp>
      <p:sp>
        <p:nvSpPr>
          <p:cNvPr name="AutoShape 16" id="16"/>
          <p:cNvSpPr/>
          <p:nvPr/>
        </p:nvSpPr>
        <p:spPr>
          <a:xfrm>
            <a:off x="8490953" y="1765427"/>
            <a:ext cx="0" cy="649224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9140329" y="6124067"/>
            <a:ext cx="8118971" cy="2891447"/>
            <a:chOff x="0" y="0"/>
            <a:chExt cx="10825295" cy="385526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87479"/>
              <a:ext cx="203013" cy="203013"/>
            </a:xfrm>
            <a:custGeom>
              <a:avLst/>
              <a:gdLst/>
              <a:ahLst/>
              <a:cxnLst/>
              <a:rect r="r" b="b" t="t" l="l"/>
              <a:pathLst>
                <a:path h="203013" w="203013">
                  <a:moveTo>
                    <a:pt x="0" y="0"/>
                  </a:moveTo>
                  <a:lnTo>
                    <a:pt x="203013" y="0"/>
                  </a:lnTo>
                  <a:lnTo>
                    <a:pt x="203013" y="203013"/>
                  </a:lnTo>
                  <a:lnTo>
                    <a:pt x="0" y="203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826125"/>
              <a:ext cx="203013" cy="203013"/>
            </a:xfrm>
            <a:custGeom>
              <a:avLst/>
              <a:gdLst/>
              <a:ahLst/>
              <a:cxnLst/>
              <a:rect r="r" b="b" t="t" l="l"/>
              <a:pathLst>
                <a:path h="203013" w="203013">
                  <a:moveTo>
                    <a:pt x="0" y="0"/>
                  </a:moveTo>
                  <a:lnTo>
                    <a:pt x="203013" y="0"/>
                  </a:lnTo>
                  <a:lnTo>
                    <a:pt x="203013" y="203013"/>
                  </a:lnTo>
                  <a:lnTo>
                    <a:pt x="0" y="203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428050" y="-38100"/>
              <a:ext cx="10397245" cy="38933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18"/>
                </a:lnSpc>
                <a:spcBef>
                  <a:spcPct val="0"/>
                </a:spcBef>
              </a:pPr>
              <a:r>
                <a:rPr lang="en-US" b="true" sz="203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Escalamiento horizontal: </a:t>
              </a:r>
            </a:p>
            <a:p>
              <a:pPr algn="l">
                <a:lnSpc>
                  <a:spcPts val="2618"/>
                </a:lnSpc>
                <a:spcBef>
                  <a:spcPct val="0"/>
                </a:spcBef>
              </a:pPr>
              <a:r>
                <a:rPr lang="en-US" b="true" sz="203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</a:t>
              </a:r>
              <a:r>
                <a:rPr lang="en-US" sz="203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gregar nodos al anillo cuando suba el volumen; entity_id + mes_año reparte carga y evita particiones excesivas. </a:t>
              </a:r>
            </a:p>
            <a:p>
              <a:pPr algn="l">
                <a:lnSpc>
                  <a:spcPts val="2618"/>
                </a:lnSpc>
                <a:spcBef>
                  <a:spcPct val="0"/>
                </a:spcBef>
              </a:pPr>
            </a:p>
            <a:p>
              <a:pPr algn="l">
                <a:lnSpc>
                  <a:spcPts val="2618"/>
                </a:lnSpc>
                <a:spcBef>
                  <a:spcPct val="0"/>
                </a:spcBef>
              </a:pPr>
              <a:r>
                <a:rPr lang="en-US" b="true" sz="203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Consulta por tiempo: </a:t>
              </a:r>
              <a:r>
                <a:rPr lang="en-US" sz="203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Bucket mensual + timestamp permite reconstruir historiales por rangos sin degradar. </a:t>
              </a:r>
            </a:p>
            <a:p>
              <a:pPr algn="l">
                <a:lnSpc>
                  <a:spcPts val="2618"/>
                </a:lnSpc>
                <a:spcBef>
                  <a:spcPct val="0"/>
                </a:spcBef>
              </a:pPr>
            </a:p>
            <a:p>
              <a:pPr algn="l">
                <a:lnSpc>
                  <a:spcPts val="2618"/>
                </a:lnSpc>
                <a:spcBef>
                  <a:spcPct val="0"/>
                </a:spcBef>
              </a:pPr>
              <a:r>
                <a:rPr lang="en-US" b="true" sz="203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Si crece el tráfico: </a:t>
              </a:r>
              <a:r>
                <a:rPr lang="en-US" sz="203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separar auditoría por dominio (calificaciones / reglas / reprocesos).</a:t>
              </a:r>
            </a:p>
          </p:txBody>
        </p:sp>
        <p:sp>
          <p:nvSpPr>
            <p:cNvPr name="Freeform 21" id="21"/>
            <p:cNvSpPr/>
            <p:nvPr/>
          </p:nvSpPr>
          <p:spPr>
            <a:xfrm flipH="false" flipV="false" rot="0">
              <a:off x="0" y="3117088"/>
              <a:ext cx="203013" cy="203013"/>
            </a:xfrm>
            <a:custGeom>
              <a:avLst/>
              <a:gdLst/>
              <a:ahLst/>
              <a:cxnLst/>
              <a:rect r="r" b="b" t="t" l="l"/>
              <a:pathLst>
                <a:path h="203013" w="203013">
                  <a:moveTo>
                    <a:pt x="0" y="0"/>
                  </a:moveTo>
                  <a:lnTo>
                    <a:pt x="203013" y="0"/>
                  </a:lnTo>
                  <a:lnTo>
                    <a:pt x="203013" y="203013"/>
                  </a:lnTo>
                  <a:lnTo>
                    <a:pt x="0" y="203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C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9437973">
            <a:off x="-3606278" y="7467005"/>
            <a:ext cx="11440617" cy="4731482"/>
          </a:xfrm>
          <a:custGeom>
            <a:avLst/>
            <a:gdLst/>
            <a:ahLst/>
            <a:cxnLst/>
            <a:rect r="r" b="b" t="t" l="l"/>
            <a:pathLst>
              <a:path h="4731482" w="11440617">
                <a:moveTo>
                  <a:pt x="11440617" y="4731481"/>
                </a:moveTo>
                <a:lnTo>
                  <a:pt x="0" y="4731481"/>
                </a:lnTo>
                <a:lnTo>
                  <a:pt x="0" y="0"/>
                </a:lnTo>
                <a:lnTo>
                  <a:pt x="11440617" y="0"/>
                </a:lnTo>
                <a:lnTo>
                  <a:pt x="11440617" y="4731481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073402">
            <a:off x="13171597" y="-1532956"/>
            <a:ext cx="5963768" cy="2466428"/>
          </a:xfrm>
          <a:custGeom>
            <a:avLst/>
            <a:gdLst/>
            <a:ahLst/>
            <a:cxnLst/>
            <a:rect r="r" b="b" t="t" l="l"/>
            <a:pathLst>
              <a:path h="2466428" w="5963768">
                <a:moveTo>
                  <a:pt x="5963768" y="2466429"/>
                </a:moveTo>
                <a:lnTo>
                  <a:pt x="0" y="2466429"/>
                </a:lnTo>
                <a:lnTo>
                  <a:pt x="0" y="0"/>
                </a:lnTo>
                <a:lnTo>
                  <a:pt x="5963768" y="0"/>
                </a:lnTo>
                <a:lnTo>
                  <a:pt x="5963768" y="2466429"/>
                </a:lnTo>
                <a:close/>
              </a:path>
            </a:pathLst>
          </a:custGeom>
          <a:blipFill>
            <a:blip r:embed="rId4">
              <a:alphaModFix amt="3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1073402">
            <a:off x="13029418" y="-1129708"/>
            <a:ext cx="5963768" cy="2466428"/>
          </a:xfrm>
          <a:custGeom>
            <a:avLst/>
            <a:gdLst/>
            <a:ahLst/>
            <a:cxnLst/>
            <a:rect r="r" b="b" t="t" l="l"/>
            <a:pathLst>
              <a:path h="2466428" w="5963768">
                <a:moveTo>
                  <a:pt x="5963768" y="2466428"/>
                </a:moveTo>
                <a:lnTo>
                  <a:pt x="0" y="2466428"/>
                </a:lnTo>
                <a:lnTo>
                  <a:pt x="0" y="0"/>
                </a:lnTo>
                <a:lnTo>
                  <a:pt x="5963768" y="0"/>
                </a:lnTo>
                <a:lnTo>
                  <a:pt x="5963768" y="2466428"/>
                </a:lnTo>
                <a:close/>
              </a:path>
            </a:pathLst>
          </a:custGeom>
          <a:blipFill>
            <a:blip r:embed="rId6">
              <a:alphaModFix amt="37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1073402">
            <a:off x="12799481" y="-710372"/>
            <a:ext cx="5963768" cy="2466428"/>
          </a:xfrm>
          <a:custGeom>
            <a:avLst/>
            <a:gdLst/>
            <a:ahLst/>
            <a:cxnLst/>
            <a:rect r="r" b="b" t="t" l="l"/>
            <a:pathLst>
              <a:path h="2466428" w="5963768">
                <a:moveTo>
                  <a:pt x="5963768" y="2466428"/>
                </a:moveTo>
                <a:lnTo>
                  <a:pt x="0" y="2466428"/>
                </a:lnTo>
                <a:lnTo>
                  <a:pt x="0" y="0"/>
                </a:lnTo>
                <a:lnTo>
                  <a:pt x="5963768" y="0"/>
                </a:lnTo>
                <a:lnTo>
                  <a:pt x="5963768" y="2466428"/>
                </a:lnTo>
                <a:close/>
              </a:path>
            </a:pathLst>
          </a:custGeom>
          <a:blipFill>
            <a:blip r:embed="rId8">
              <a:alphaModFix amt="37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137142" y="649294"/>
            <a:ext cx="9599606" cy="8274067"/>
            <a:chOff x="0" y="0"/>
            <a:chExt cx="12799475" cy="110320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799475" cy="11032089"/>
            </a:xfrm>
            <a:custGeom>
              <a:avLst/>
              <a:gdLst/>
              <a:ahLst/>
              <a:cxnLst/>
              <a:rect r="r" b="b" t="t" l="l"/>
              <a:pathLst>
                <a:path h="11032089" w="12799475">
                  <a:moveTo>
                    <a:pt x="0" y="0"/>
                  </a:moveTo>
                  <a:lnTo>
                    <a:pt x="12799475" y="0"/>
                  </a:lnTo>
                  <a:lnTo>
                    <a:pt x="12799475" y="11032089"/>
                  </a:lnTo>
                  <a:lnTo>
                    <a:pt x="0" y="11032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8719527" y="3241420"/>
              <a:ext cx="511877" cy="485232"/>
            </a:xfrm>
            <a:custGeom>
              <a:avLst/>
              <a:gdLst/>
              <a:ahLst/>
              <a:cxnLst/>
              <a:rect r="r" b="b" t="t" l="l"/>
              <a:pathLst>
                <a:path h="485232" w="511877">
                  <a:moveTo>
                    <a:pt x="0" y="0"/>
                  </a:moveTo>
                  <a:lnTo>
                    <a:pt x="511878" y="0"/>
                  </a:lnTo>
                  <a:lnTo>
                    <a:pt x="511878" y="485232"/>
                  </a:lnTo>
                  <a:lnTo>
                    <a:pt x="0" y="485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9428783" y="1295045"/>
              <a:ext cx="511877" cy="485232"/>
            </a:xfrm>
            <a:custGeom>
              <a:avLst/>
              <a:gdLst/>
              <a:ahLst/>
              <a:cxnLst/>
              <a:rect r="r" b="b" t="t" l="l"/>
              <a:pathLst>
                <a:path h="485232" w="511877">
                  <a:moveTo>
                    <a:pt x="0" y="0"/>
                  </a:moveTo>
                  <a:lnTo>
                    <a:pt x="511877" y="0"/>
                  </a:lnTo>
                  <a:lnTo>
                    <a:pt x="511877" y="485232"/>
                  </a:lnTo>
                  <a:lnTo>
                    <a:pt x="0" y="485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0697106" y="2756189"/>
              <a:ext cx="511877" cy="485232"/>
            </a:xfrm>
            <a:custGeom>
              <a:avLst/>
              <a:gdLst/>
              <a:ahLst/>
              <a:cxnLst/>
              <a:rect r="r" b="b" t="t" l="l"/>
              <a:pathLst>
                <a:path h="485232" w="511877">
                  <a:moveTo>
                    <a:pt x="0" y="0"/>
                  </a:moveTo>
                  <a:lnTo>
                    <a:pt x="511877" y="0"/>
                  </a:lnTo>
                  <a:lnTo>
                    <a:pt x="511877" y="485231"/>
                  </a:lnTo>
                  <a:lnTo>
                    <a:pt x="0" y="4852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0697106" y="5273429"/>
              <a:ext cx="511877" cy="485232"/>
            </a:xfrm>
            <a:custGeom>
              <a:avLst/>
              <a:gdLst/>
              <a:ahLst/>
              <a:cxnLst/>
              <a:rect r="r" b="b" t="t" l="l"/>
              <a:pathLst>
                <a:path h="485232" w="511877">
                  <a:moveTo>
                    <a:pt x="0" y="0"/>
                  </a:moveTo>
                  <a:lnTo>
                    <a:pt x="511877" y="0"/>
                  </a:lnTo>
                  <a:lnTo>
                    <a:pt x="511877" y="485231"/>
                  </a:lnTo>
                  <a:lnTo>
                    <a:pt x="0" y="4852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7808148" y="5030813"/>
              <a:ext cx="511877" cy="485232"/>
            </a:xfrm>
            <a:custGeom>
              <a:avLst/>
              <a:gdLst/>
              <a:ahLst/>
              <a:cxnLst/>
              <a:rect r="r" b="b" t="t" l="l"/>
              <a:pathLst>
                <a:path h="485232" w="511877">
                  <a:moveTo>
                    <a:pt x="0" y="0"/>
                  </a:moveTo>
                  <a:lnTo>
                    <a:pt x="511877" y="0"/>
                  </a:lnTo>
                  <a:lnTo>
                    <a:pt x="511877" y="485232"/>
                  </a:lnTo>
                  <a:lnTo>
                    <a:pt x="0" y="485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967230" y="3291480"/>
              <a:ext cx="511877" cy="485232"/>
            </a:xfrm>
            <a:custGeom>
              <a:avLst/>
              <a:gdLst/>
              <a:ahLst/>
              <a:cxnLst/>
              <a:rect r="r" b="b" t="t" l="l"/>
              <a:pathLst>
                <a:path h="485232" w="511877">
                  <a:moveTo>
                    <a:pt x="0" y="0"/>
                  </a:moveTo>
                  <a:lnTo>
                    <a:pt x="511877" y="0"/>
                  </a:lnTo>
                  <a:lnTo>
                    <a:pt x="511877" y="485232"/>
                  </a:lnTo>
                  <a:lnTo>
                    <a:pt x="0" y="485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967230" y="8648169"/>
              <a:ext cx="511877" cy="485232"/>
            </a:xfrm>
            <a:custGeom>
              <a:avLst/>
              <a:gdLst/>
              <a:ahLst/>
              <a:cxnLst/>
              <a:rect r="r" b="b" t="t" l="l"/>
              <a:pathLst>
                <a:path h="485232" w="511877">
                  <a:moveTo>
                    <a:pt x="0" y="0"/>
                  </a:moveTo>
                  <a:lnTo>
                    <a:pt x="511877" y="0"/>
                  </a:lnTo>
                  <a:lnTo>
                    <a:pt x="511877" y="485232"/>
                  </a:lnTo>
                  <a:lnTo>
                    <a:pt x="0" y="485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054302" y="9686249"/>
              <a:ext cx="511877" cy="485232"/>
            </a:xfrm>
            <a:custGeom>
              <a:avLst/>
              <a:gdLst/>
              <a:ahLst/>
              <a:cxnLst/>
              <a:rect r="r" b="b" t="t" l="l"/>
              <a:pathLst>
                <a:path h="485232" w="511877">
                  <a:moveTo>
                    <a:pt x="0" y="0"/>
                  </a:moveTo>
                  <a:lnTo>
                    <a:pt x="511877" y="0"/>
                  </a:lnTo>
                  <a:lnTo>
                    <a:pt x="511877" y="485232"/>
                  </a:lnTo>
                  <a:lnTo>
                    <a:pt x="0" y="485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566179" y="5977923"/>
              <a:ext cx="511877" cy="485232"/>
            </a:xfrm>
            <a:custGeom>
              <a:avLst/>
              <a:gdLst/>
              <a:ahLst/>
              <a:cxnLst/>
              <a:rect r="r" b="b" t="t" l="l"/>
              <a:pathLst>
                <a:path h="485232" w="511877">
                  <a:moveTo>
                    <a:pt x="0" y="0"/>
                  </a:moveTo>
                  <a:lnTo>
                    <a:pt x="511877" y="0"/>
                  </a:lnTo>
                  <a:lnTo>
                    <a:pt x="511877" y="485232"/>
                  </a:lnTo>
                  <a:lnTo>
                    <a:pt x="0" y="485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17" id="17"/>
            <p:cNvSpPr/>
            <p:nvPr/>
          </p:nvSpPr>
          <p:spPr>
            <a:xfrm flipV="true">
              <a:off x="3386500" y="6466648"/>
              <a:ext cx="474452" cy="3289506"/>
            </a:xfrm>
            <a:prstGeom prst="line">
              <a:avLst/>
            </a:prstGeom>
            <a:ln cap="flat" w="48133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" id="18"/>
            <p:cNvSpPr/>
            <p:nvPr/>
          </p:nvSpPr>
          <p:spPr>
            <a:xfrm flipH="true" flipV="true">
              <a:off x="4072339" y="6466648"/>
              <a:ext cx="3001694" cy="2279545"/>
            </a:xfrm>
            <a:prstGeom prst="line">
              <a:avLst/>
            </a:prstGeom>
            <a:ln cap="flat" w="48133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 flipV="true">
              <a:off x="3597887" y="8981068"/>
              <a:ext cx="3476145" cy="1033449"/>
            </a:xfrm>
            <a:prstGeom prst="line">
              <a:avLst/>
            </a:prstGeom>
            <a:ln cap="flat" w="48133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0" id="20"/>
            <p:cNvSpPr/>
            <p:nvPr/>
          </p:nvSpPr>
          <p:spPr>
            <a:xfrm flipH="true" flipV="true">
              <a:off x="7290122" y="3766850"/>
              <a:ext cx="676434" cy="1291811"/>
            </a:xfrm>
            <a:prstGeom prst="line">
              <a:avLst/>
            </a:prstGeom>
            <a:ln cap="flat" w="48133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1" id="21"/>
            <p:cNvSpPr/>
            <p:nvPr/>
          </p:nvSpPr>
          <p:spPr>
            <a:xfrm>
              <a:off x="7524996" y="3438026"/>
              <a:ext cx="1174373" cy="23487"/>
            </a:xfrm>
            <a:prstGeom prst="line">
              <a:avLst/>
            </a:prstGeom>
            <a:ln cap="flat" w="48133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2" id="22"/>
            <p:cNvSpPr/>
            <p:nvPr/>
          </p:nvSpPr>
          <p:spPr>
            <a:xfrm flipV="true">
              <a:off x="8263655" y="3766850"/>
              <a:ext cx="764539" cy="1291811"/>
            </a:xfrm>
            <a:prstGeom prst="line">
              <a:avLst/>
            </a:prstGeom>
            <a:ln cap="flat" w="48133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3" id="23"/>
            <p:cNvSpPr/>
            <p:nvPr/>
          </p:nvSpPr>
          <p:spPr>
            <a:xfrm flipH="true" flipV="true">
              <a:off x="9920718" y="1746928"/>
              <a:ext cx="972424" cy="1085163"/>
            </a:xfrm>
            <a:prstGeom prst="line">
              <a:avLst/>
            </a:prstGeom>
            <a:ln cap="flat" w="48133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4" id="24"/>
            <p:cNvSpPr/>
            <p:nvPr/>
          </p:nvSpPr>
          <p:spPr>
            <a:xfrm flipH="true" flipV="true">
              <a:off x="9685843" y="1746928"/>
              <a:ext cx="1207299" cy="3546608"/>
            </a:xfrm>
            <a:prstGeom prst="line">
              <a:avLst/>
            </a:prstGeom>
            <a:ln cap="flat" w="48133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5" id="25"/>
            <p:cNvSpPr/>
            <p:nvPr/>
          </p:nvSpPr>
          <p:spPr>
            <a:xfrm flipV="true">
              <a:off x="10893142" y="3226638"/>
              <a:ext cx="0" cy="2066897"/>
            </a:xfrm>
            <a:prstGeom prst="line">
              <a:avLst/>
            </a:prstGeom>
            <a:ln cap="flat" w="48133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487382" y="534994"/>
            <a:ext cx="8606314" cy="873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Infraestructura distribuida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0600" y="2419892"/>
            <a:ext cx="9217903" cy="195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Por región</a:t>
            </a: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3 clusters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Cada cluster</a:t>
            </a: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4 nodos 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Objetivo</a:t>
            </a: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totalmente distribuido y siempre funcional</a:t>
            </a:r>
          </a:p>
          <a:p>
            <a:pPr algn="l">
              <a:lnSpc>
                <a:spcPts val="3079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962025" y="5162550"/>
            <a:ext cx="7192819" cy="3277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7"/>
              </a:lnSpc>
            </a:pPr>
          </a:p>
          <a:p>
            <a:pPr algn="l" marL="561592" indent="-280796" lvl="1">
              <a:lnSpc>
                <a:spcPts val="2887"/>
              </a:lnSpc>
              <a:buFont typeface="Arial"/>
              <a:buChar char="•"/>
            </a:pPr>
            <a:r>
              <a:rPr lang="en-US" sz="2601" spc="52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Alta Disponibilidad (HA): Redirección automática de carga ante fallos de nodo o clúster completo.</a:t>
            </a:r>
          </a:p>
          <a:p>
            <a:pPr algn="l">
              <a:lnSpc>
                <a:spcPts val="2887"/>
              </a:lnSpc>
            </a:pPr>
          </a:p>
          <a:p>
            <a:pPr algn="l" marL="561592" indent="-280796" lvl="1">
              <a:lnSpc>
                <a:spcPts val="2887"/>
              </a:lnSpc>
              <a:buFont typeface="Arial"/>
              <a:buChar char="•"/>
            </a:pPr>
            <a:r>
              <a:rPr lang="en-US" sz="2601" spc="52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Objetivo: Resiliencia extrema y respuesta garantizada con latencia mínima.</a:t>
            </a:r>
          </a:p>
          <a:p>
            <a:pPr algn="l">
              <a:lnSpc>
                <a:spcPts val="2887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C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6757216">
            <a:off x="1636859" y="-7008690"/>
            <a:ext cx="5981576" cy="14017380"/>
            <a:chOff x="0" y="0"/>
            <a:chExt cx="1575394" cy="36918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5394" cy="3691820"/>
            </a:xfrm>
            <a:custGeom>
              <a:avLst/>
              <a:gdLst/>
              <a:ahLst/>
              <a:cxnLst/>
              <a:rect r="r" b="b" t="t" l="l"/>
              <a:pathLst>
                <a:path h="3691820" w="1575394">
                  <a:moveTo>
                    <a:pt x="0" y="0"/>
                  </a:moveTo>
                  <a:lnTo>
                    <a:pt x="1575394" y="0"/>
                  </a:lnTo>
                  <a:lnTo>
                    <a:pt x="1575394" y="3691820"/>
                  </a:lnTo>
                  <a:lnTo>
                    <a:pt x="0" y="3691820"/>
                  </a:lnTo>
                  <a:close/>
                </a:path>
              </a:pathLst>
            </a:custGeom>
            <a:solidFill>
              <a:srgbClr val="15182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75394" cy="37299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97883" y="693079"/>
            <a:ext cx="94394" cy="1204301"/>
            <a:chOff x="0" y="0"/>
            <a:chExt cx="29728" cy="3792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728" cy="379275"/>
            </a:xfrm>
            <a:custGeom>
              <a:avLst/>
              <a:gdLst/>
              <a:ahLst/>
              <a:cxnLst/>
              <a:rect r="r" b="b" t="t" l="l"/>
              <a:pathLst>
                <a:path h="379275" w="29728">
                  <a:moveTo>
                    <a:pt x="0" y="0"/>
                  </a:moveTo>
                  <a:lnTo>
                    <a:pt x="29728" y="0"/>
                  </a:lnTo>
                  <a:lnTo>
                    <a:pt x="29728" y="379275"/>
                  </a:lnTo>
                  <a:lnTo>
                    <a:pt x="0" y="379275"/>
                  </a:lnTo>
                  <a:close/>
                </a:path>
              </a:pathLst>
            </a:custGeom>
            <a:gradFill rotWithShape="true">
              <a:gsLst>
                <a:gs pos="0">
                  <a:srgbClr val="009874">
                    <a:alpha val="100000"/>
                  </a:srgbClr>
                </a:gs>
                <a:gs pos="100000">
                  <a:srgbClr val="00B2C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9728" cy="42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73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05616" y="850790"/>
            <a:ext cx="888879" cy="888879"/>
          </a:xfrm>
          <a:custGeom>
            <a:avLst/>
            <a:gdLst/>
            <a:ahLst/>
            <a:cxnLst/>
            <a:rect r="r" b="b" t="t" l="l"/>
            <a:pathLst>
              <a:path h="888879" w="888879">
                <a:moveTo>
                  <a:pt x="0" y="0"/>
                </a:moveTo>
                <a:lnTo>
                  <a:pt x="888879" y="0"/>
                </a:lnTo>
                <a:lnTo>
                  <a:pt x="888879" y="888879"/>
                </a:lnTo>
                <a:lnTo>
                  <a:pt x="0" y="8888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81567" y="902904"/>
            <a:ext cx="1225856" cy="994476"/>
          </a:xfrm>
          <a:custGeom>
            <a:avLst/>
            <a:gdLst/>
            <a:ahLst/>
            <a:cxnLst/>
            <a:rect r="r" b="b" t="t" l="l"/>
            <a:pathLst>
              <a:path h="994476" w="1225856">
                <a:moveTo>
                  <a:pt x="0" y="0"/>
                </a:moveTo>
                <a:lnTo>
                  <a:pt x="1225856" y="0"/>
                </a:lnTo>
                <a:lnTo>
                  <a:pt x="1225856" y="994476"/>
                </a:lnTo>
                <a:lnTo>
                  <a:pt x="0" y="9944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92277" y="3423197"/>
            <a:ext cx="8350046" cy="3908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8695" indent="-299348" lvl="1">
              <a:lnSpc>
                <a:spcPts val="3078"/>
              </a:lnSpc>
              <a:buFont typeface="Arial"/>
              <a:buChar char="•"/>
            </a:pPr>
            <a:r>
              <a:rPr lang="en-US" sz="2773" spc="55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Esca</a:t>
            </a:r>
            <a:r>
              <a:rPr lang="en-US" sz="2773" spc="55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lamiento Horizontal: </a:t>
            </a:r>
          </a:p>
          <a:p>
            <a:pPr algn="l">
              <a:lnSpc>
                <a:spcPts val="3078"/>
              </a:lnSpc>
            </a:pPr>
            <a:r>
              <a:rPr lang="en-US" sz="2773" spc="55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     Crecimiento mediante la adición de nodos estándar.</a:t>
            </a:r>
          </a:p>
          <a:p>
            <a:pPr algn="l">
              <a:lnSpc>
                <a:spcPts val="3078"/>
              </a:lnSpc>
            </a:pPr>
          </a:p>
          <a:p>
            <a:pPr algn="l">
              <a:lnSpc>
                <a:spcPts val="3078"/>
              </a:lnSpc>
            </a:pPr>
          </a:p>
          <a:p>
            <a:pPr algn="l">
              <a:lnSpc>
                <a:spcPts val="3078"/>
              </a:lnSpc>
            </a:pPr>
          </a:p>
          <a:p>
            <a:pPr algn="l" marL="598695" indent="-299348" lvl="1">
              <a:lnSpc>
                <a:spcPts val="3078"/>
              </a:lnSpc>
              <a:buFont typeface="Arial"/>
              <a:buChar char="•"/>
            </a:pPr>
            <a:r>
              <a:rPr lang="en-US" sz="2773" spc="55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Independencia Regional: </a:t>
            </a:r>
          </a:p>
          <a:p>
            <a:pPr algn="l">
              <a:lnSpc>
                <a:spcPts val="3078"/>
              </a:lnSpc>
            </a:pPr>
            <a:r>
              <a:rPr lang="en-US" sz="2773" spc="55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     Capacidad de ampliar regiones específicas según demanda.</a:t>
            </a:r>
          </a:p>
          <a:p>
            <a:pPr algn="l">
              <a:lnSpc>
                <a:spcPts val="3078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683972" y="2740768"/>
            <a:ext cx="8298972" cy="4469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3"/>
              </a:lnSpc>
              <a:spcBef>
                <a:spcPct val="0"/>
              </a:spcBef>
            </a:pPr>
            <a:r>
              <a:rPr lang="en-US" b="true" sz="2678" spc="53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E</a:t>
            </a:r>
            <a:r>
              <a:rPr lang="en-US" b="true" sz="2678" spc="53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lasticidad por Modelo:</a:t>
            </a:r>
          </a:p>
          <a:p>
            <a:pPr algn="l">
              <a:lnSpc>
                <a:spcPts val="2973"/>
              </a:lnSpc>
              <a:spcBef>
                <a:spcPct val="0"/>
              </a:spcBef>
            </a:pPr>
          </a:p>
          <a:p>
            <a:pPr algn="l" marL="578354" indent="-289177" lvl="1">
              <a:lnSpc>
                <a:spcPts val="2973"/>
              </a:lnSpc>
              <a:buFont typeface="Arial"/>
              <a:buChar char="•"/>
            </a:pPr>
            <a:r>
              <a:rPr lang="en-US" sz="2678" spc="53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Sharding en MongoDB y Cassandra.</a:t>
            </a:r>
          </a:p>
          <a:p>
            <a:pPr algn="l" marL="578354" indent="-289177" lvl="1">
              <a:lnSpc>
                <a:spcPts val="2973"/>
              </a:lnSpc>
              <a:buFont typeface="Arial"/>
              <a:buChar char="•"/>
            </a:pPr>
            <a:r>
              <a:rPr lang="en-US" sz="2678" spc="53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Hash Slots en Redis.</a:t>
            </a:r>
          </a:p>
          <a:p>
            <a:pPr algn="l" marL="578354" indent="-289177" lvl="1">
              <a:lnSpc>
                <a:spcPts val="2973"/>
              </a:lnSpc>
              <a:buFont typeface="Arial"/>
              <a:buChar char="•"/>
            </a:pPr>
            <a:r>
              <a:rPr lang="en-US" sz="2678" spc="53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Read Replicas en Neo4j.</a:t>
            </a:r>
          </a:p>
          <a:p>
            <a:pPr algn="l">
              <a:lnSpc>
                <a:spcPts val="2973"/>
              </a:lnSpc>
            </a:pPr>
          </a:p>
          <a:p>
            <a:pPr algn="l">
              <a:lnSpc>
                <a:spcPts val="2973"/>
              </a:lnSpc>
            </a:pPr>
          </a:p>
          <a:p>
            <a:pPr algn="l">
              <a:lnSpc>
                <a:spcPts val="2973"/>
              </a:lnSpc>
            </a:pPr>
          </a:p>
          <a:p>
            <a:pPr algn="l">
              <a:lnSpc>
                <a:spcPts val="2973"/>
              </a:lnSpc>
            </a:pPr>
            <a:r>
              <a:rPr lang="en-US" b="true" sz="2678" spc="53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Eficiencia: </a:t>
            </a:r>
          </a:p>
          <a:p>
            <a:pPr algn="l">
              <a:lnSpc>
                <a:spcPts val="2973"/>
              </a:lnSpc>
            </a:pPr>
          </a:p>
          <a:p>
            <a:pPr algn="l" marL="578354" indent="-289177" lvl="1">
              <a:lnSpc>
                <a:spcPts val="2973"/>
              </a:lnSpc>
              <a:buFont typeface="Arial"/>
              <a:buChar char="•"/>
            </a:pPr>
            <a:r>
              <a:rPr lang="en-US" sz="2678" spc="53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Sin techo teórico de almacenamiento o procesamiento.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71042" y="8857583"/>
            <a:ext cx="13545916" cy="820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6"/>
              </a:lnSpc>
              <a:spcBef>
                <a:spcPct val="0"/>
              </a:spcBef>
            </a:pPr>
            <a:r>
              <a:rPr lang="en-US" b="true" sz="2871" spc="57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La persistencia políglota distribuye la carga según fortalezas, mejora performance y escalabilidad bajo ingesta masiva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04045" y="866557"/>
            <a:ext cx="5454473" cy="873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Escalabilidad</a:t>
            </a:r>
          </a:p>
        </p:txBody>
      </p:sp>
      <p:sp>
        <p:nvSpPr>
          <p:cNvPr name="AutoShape 14" id="14"/>
          <p:cNvSpPr/>
          <p:nvPr/>
        </p:nvSpPr>
        <p:spPr>
          <a:xfrm>
            <a:off x="9293162" y="1897380"/>
            <a:ext cx="0" cy="649224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C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6757216">
            <a:off x="1636859" y="-7008690"/>
            <a:ext cx="5981576" cy="14017380"/>
            <a:chOff x="0" y="0"/>
            <a:chExt cx="1575394" cy="36918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5394" cy="3691820"/>
            </a:xfrm>
            <a:custGeom>
              <a:avLst/>
              <a:gdLst/>
              <a:ahLst/>
              <a:cxnLst/>
              <a:rect r="r" b="b" t="t" l="l"/>
              <a:pathLst>
                <a:path h="3691820" w="1575394">
                  <a:moveTo>
                    <a:pt x="0" y="0"/>
                  </a:moveTo>
                  <a:lnTo>
                    <a:pt x="1575394" y="0"/>
                  </a:lnTo>
                  <a:lnTo>
                    <a:pt x="1575394" y="3691820"/>
                  </a:lnTo>
                  <a:lnTo>
                    <a:pt x="0" y="3691820"/>
                  </a:lnTo>
                  <a:close/>
                </a:path>
              </a:pathLst>
            </a:custGeom>
            <a:solidFill>
              <a:srgbClr val="15182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75394" cy="37299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1940851" y="2323197"/>
          <a:ext cx="9758362" cy="3886057"/>
        </p:xfrm>
        <a:graphic>
          <a:graphicData uri="http://schemas.openxmlformats.org/presentationml/2006/ole">
            <p:oleObj imgW="11696700" imgH="58293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597883" y="693079"/>
            <a:ext cx="94394" cy="1204301"/>
            <a:chOff x="0" y="0"/>
            <a:chExt cx="29728" cy="3792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728" cy="379275"/>
            </a:xfrm>
            <a:custGeom>
              <a:avLst/>
              <a:gdLst/>
              <a:ahLst/>
              <a:cxnLst/>
              <a:rect r="r" b="b" t="t" l="l"/>
              <a:pathLst>
                <a:path h="379275" w="29728">
                  <a:moveTo>
                    <a:pt x="0" y="0"/>
                  </a:moveTo>
                  <a:lnTo>
                    <a:pt x="29728" y="0"/>
                  </a:lnTo>
                  <a:lnTo>
                    <a:pt x="29728" y="379275"/>
                  </a:lnTo>
                  <a:lnTo>
                    <a:pt x="0" y="379275"/>
                  </a:lnTo>
                  <a:close/>
                </a:path>
              </a:pathLst>
            </a:custGeom>
            <a:gradFill rotWithShape="true">
              <a:gsLst>
                <a:gs pos="0">
                  <a:srgbClr val="009874">
                    <a:alpha val="100000"/>
                  </a:srgbClr>
                </a:gs>
                <a:gs pos="100000">
                  <a:srgbClr val="00B2C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9728" cy="42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73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815110" y="842793"/>
            <a:ext cx="1005415" cy="904874"/>
          </a:xfrm>
          <a:custGeom>
            <a:avLst/>
            <a:gdLst/>
            <a:ahLst/>
            <a:cxnLst/>
            <a:rect r="r" b="b" t="t" l="l"/>
            <a:pathLst>
              <a:path h="904874" w="1005415">
                <a:moveTo>
                  <a:pt x="0" y="0"/>
                </a:moveTo>
                <a:lnTo>
                  <a:pt x="1005416" y="0"/>
                </a:lnTo>
                <a:lnTo>
                  <a:pt x="1005416" y="904873"/>
                </a:lnTo>
                <a:lnTo>
                  <a:pt x="0" y="9048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874554"/>
            <a:ext cx="10799554" cy="873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Simulación de Performance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C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9437973">
            <a:off x="-3720753" y="8062276"/>
            <a:ext cx="11440617" cy="4731482"/>
          </a:xfrm>
          <a:custGeom>
            <a:avLst/>
            <a:gdLst/>
            <a:ahLst/>
            <a:cxnLst/>
            <a:rect r="r" b="b" t="t" l="l"/>
            <a:pathLst>
              <a:path h="4731482" w="11440617">
                <a:moveTo>
                  <a:pt x="11440616" y="4731482"/>
                </a:moveTo>
                <a:lnTo>
                  <a:pt x="0" y="4731482"/>
                </a:lnTo>
                <a:lnTo>
                  <a:pt x="0" y="0"/>
                </a:lnTo>
                <a:lnTo>
                  <a:pt x="11440616" y="0"/>
                </a:lnTo>
                <a:lnTo>
                  <a:pt x="11440616" y="4731482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8858180" y="1897380"/>
            <a:ext cx="0" cy="649224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663702" y="3322680"/>
            <a:ext cx="152260" cy="152260"/>
          </a:xfrm>
          <a:custGeom>
            <a:avLst/>
            <a:gdLst/>
            <a:ahLst/>
            <a:cxnLst/>
            <a:rect r="r" b="b" t="t" l="l"/>
            <a:pathLst>
              <a:path h="152260" w="152260">
                <a:moveTo>
                  <a:pt x="0" y="0"/>
                </a:moveTo>
                <a:lnTo>
                  <a:pt x="152259" y="0"/>
                </a:lnTo>
                <a:lnTo>
                  <a:pt x="152259" y="152260"/>
                </a:lnTo>
                <a:lnTo>
                  <a:pt x="0" y="1522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63702" y="5914311"/>
            <a:ext cx="152260" cy="152260"/>
          </a:xfrm>
          <a:custGeom>
            <a:avLst/>
            <a:gdLst/>
            <a:ahLst/>
            <a:cxnLst/>
            <a:rect r="r" b="b" t="t" l="l"/>
            <a:pathLst>
              <a:path h="152260" w="152260">
                <a:moveTo>
                  <a:pt x="0" y="0"/>
                </a:moveTo>
                <a:lnTo>
                  <a:pt x="152259" y="0"/>
                </a:lnTo>
                <a:lnTo>
                  <a:pt x="152259" y="152259"/>
                </a:lnTo>
                <a:lnTo>
                  <a:pt x="0" y="152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986110">
            <a:off x="9579611" y="8636868"/>
            <a:ext cx="11440617" cy="4731482"/>
          </a:xfrm>
          <a:custGeom>
            <a:avLst/>
            <a:gdLst/>
            <a:ahLst/>
            <a:cxnLst/>
            <a:rect r="r" b="b" t="t" l="l"/>
            <a:pathLst>
              <a:path h="4731482" w="11440617">
                <a:moveTo>
                  <a:pt x="11440616" y="0"/>
                </a:moveTo>
                <a:lnTo>
                  <a:pt x="0" y="0"/>
                </a:lnTo>
                <a:lnTo>
                  <a:pt x="0" y="4731481"/>
                </a:lnTo>
                <a:lnTo>
                  <a:pt x="11440616" y="4731481"/>
                </a:lnTo>
                <a:lnTo>
                  <a:pt x="11440616" y="0"/>
                </a:lnTo>
                <a:close/>
              </a:path>
            </a:pathLst>
          </a:custGeom>
          <a:blipFill>
            <a:blip r:embed="rId6">
              <a:alphaModFix amt="3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60488" y="752037"/>
            <a:ext cx="1139067" cy="1086385"/>
          </a:xfrm>
          <a:custGeom>
            <a:avLst/>
            <a:gdLst/>
            <a:ahLst/>
            <a:cxnLst/>
            <a:rect r="r" b="b" t="t" l="l"/>
            <a:pathLst>
              <a:path h="1086385" w="1139067">
                <a:moveTo>
                  <a:pt x="0" y="0"/>
                </a:moveTo>
                <a:lnTo>
                  <a:pt x="1139067" y="0"/>
                </a:lnTo>
                <a:lnTo>
                  <a:pt x="1139067" y="1086385"/>
                </a:lnTo>
                <a:lnTo>
                  <a:pt x="0" y="10863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9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71005" y="801524"/>
            <a:ext cx="3321963" cy="873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Monitoreo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31337" y="2103350"/>
            <a:ext cx="7496175" cy="6640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4"/>
              </a:lnSpc>
              <a:spcBef>
                <a:spcPct val="0"/>
              </a:spcBef>
            </a:pPr>
            <a:r>
              <a:rPr lang="en-US" b="true" sz="22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RF1: </a:t>
            </a:r>
            <a:r>
              <a:rPr lang="en-US" sz="2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latencia de escritura majority + slow queries + desbalance/hotspots.</a:t>
            </a:r>
          </a:p>
          <a:p>
            <a:pPr algn="l">
              <a:lnSpc>
                <a:spcPts val="3794"/>
              </a:lnSpc>
              <a:spcBef>
                <a:spcPct val="0"/>
              </a:spcBef>
            </a:pPr>
          </a:p>
          <a:p>
            <a:pPr algn="l">
              <a:lnSpc>
                <a:spcPts val="3794"/>
              </a:lnSpc>
              <a:spcBef>
                <a:spcPct val="0"/>
              </a:spcBef>
            </a:pPr>
            <a:r>
              <a:rPr lang="en-US" b="true" sz="22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RF2: </a:t>
            </a:r>
            <a:r>
              <a:rPr lang="en-US" sz="2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memoria + hit-rate + latencia de operaciones, lookup reglas.</a:t>
            </a:r>
          </a:p>
          <a:p>
            <a:pPr algn="l">
              <a:lnSpc>
                <a:spcPts val="3794"/>
              </a:lnSpc>
              <a:spcBef>
                <a:spcPct val="0"/>
              </a:spcBef>
            </a:pPr>
          </a:p>
          <a:p>
            <a:pPr algn="l">
              <a:lnSpc>
                <a:spcPts val="3794"/>
              </a:lnSpc>
              <a:spcBef>
                <a:spcPct val="0"/>
              </a:spcBef>
            </a:pPr>
            <a:r>
              <a:rPr lang="en-US" b="true" sz="22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RF3: </a:t>
            </a:r>
            <a:r>
              <a:rPr lang="en-US" sz="2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p95 de paths + RAM/heap + tiempos de consulta Cypher</a:t>
            </a:r>
          </a:p>
          <a:p>
            <a:pPr algn="l">
              <a:lnSpc>
                <a:spcPts val="3794"/>
              </a:lnSpc>
              <a:spcBef>
                <a:spcPct val="0"/>
              </a:spcBef>
            </a:pPr>
          </a:p>
          <a:p>
            <a:pPr algn="l">
              <a:lnSpc>
                <a:spcPts val="3794"/>
              </a:lnSpc>
              <a:spcBef>
                <a:spcPct val="0"/>
              </a:spcBef>
            </a:pPr>
            <a:r>
              <a:rPr lang="en-US" b="true" sz="22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RF4: </a:t>
            </a:r>
            <a:r>
              <a:rPr lang="en-US" sz="2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p95 lectura reportes + nodos up + timeouts, always on.</a:t>
            </a:r>
          </a:p>
          <a:p>
            <a:pPr algn="l">
              <a:lnSpc>
                <a:spcPts val="3794"/>
              </a:lnSpc>
              <a:spcBef>
                <a:spcPct val="0"/>
              </a:spcBef>
            </a:pPr>
          </a:p>
          <a:p>
            <a:pPr algn="l">
              <a:lnSpc>
                <a:spcPts val="3794"/>
              </a:lnSpc>
              <a:spcBef>
                <a:spcPct val="0"/>
              </a:spcBef>
            </a:pPr>
            <a:r>
              <a:rPr lang="en-US" b="true" sz="22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RF5:</a:t>
            </a:r>
            <a:r>
              <a:rPr lang="en-US" sz="2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latencia de QUORUM + timeouts + crecimiento del log/particiones.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97883" y="693079"/>
            <a:ext cx="94394" cy="1204301"/>
            <a:chOff x="0" y="0"/>
            <a:chExt cx="29728" cy="3792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728" cy="379275"/>
            </a:xfrm>
            <a:custGeom>
              <a:avLst/>
              <a:gdLst/>
              <a:ahLst/>
              <a:cxnLst/>
              <a:rect r="r" b="b" t="t" l="l"/>
              <a:pathLst>
                <a:path h="379275" w="29728">
                  <a:moveTo>
                    <a:pt x="0" y="0"/>
                  </a:moveTo>
                  <a:lnTo>
                    <a:pt x="29728" y="0"/>
                  </a:lnTo>
                  <a:lnTo>
                    <a:pt x="29728" y="379275"/>
                  </a:lnTo>
                  <a:lnTo>
                    <a:pt x="0" y="379275"/>
                  </a:lnTo>
                  <a:close/>
                </a:path>
              </a:pathLst>
            </a:custGeom>
            <a:gradFill rotWithShape="true">
              <a:gsLst>
                <a:gs pos="0">
                  <a:srgbClr val="009874">
                    <a:alpha val="100000"/>
                  </a:srgbClr>
                </a:gs>
                <a:gs pos="100000">
                  <a:srgbClr val="00B2C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9728" cy="42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73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9587594" y="8015288"/>
            <a:ext cx="163610" cy="163610"/>
          </a:xfrm>
          <a:custGeom>
            <a:avLst/>
            <a:gdLst/>
            <a:ahLst/>
            <a:cxnLst/>
            <a:rect r="r" b="b" t="t" l="l"/>
            <a:pathLst>
              <a:path h="163610" w="163610">
                <a:moveTo>
                  <a:pt x="0" y="0"/>
                </a:moveTo>
                <a:lnTo>
                  <a:pt x="163610" y="0"/>
                </a:lnTo>
                <a:lnTo>
                  <a:pt x="163610" y="163611"/>
                </a:lnTo>
                <a:lnTo>
                  <a:pt x="0" y="16361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587594" y="6609052"/>
            <a:ext cx="163610" cy="163610"/>
          </a:xfrm>
          <a:custGeom>
            <a:avLst/>
            <a:gdLst/>
            <a:ahLst/>
            <a:cxnLst/>
            <a:rect r="r" b="b" t="t" l="l"/>
            <a:pathLst>
              <a:path h="163610" w="163610">
                <a:moveTo>
                  <a:pt x="0" y="0"/>
                </a:moveTo>
                <a:lnTo>
                  <a:pt x="163610" y="0"/>
                </a:lnTo>
                <a:lnTo>
                  <a:pt x="163610" y="163610"/>
                </a:lnTo>
                <a:lnTo>
                  <a:pt x="0" y="1636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587594" y="2320729"/>
            <a:ext cx="163610" cy="163610"/>
          </a:xfrm>
          <a:custGeom>
            <a:avLst/>
            <a:gdLst/>
            <a:ahLst/>
            <a:cxnLst/>
            <a:rect r="r" b="b" t="t" l="l"/>
            <a:pathLst>
              <a:path h="163610" w="163610">
                <a:moveTo>
                  <a:pt x="0" y="0"/>
                </a:moveTo>
                <a:lnTo>
                  <a:pt x="163610" y="0"/>
                </a:lnTo>
                <a:lnTo>
                  <a:pt x="163610" y="163611"/>
                </a:lnTo>
                <a:lnTo>
                  <a:pt x="0" y="16361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587594" y="5143500"/>
            <a:ext cx="163610" cy="163610"/>
          </a:xfrm>
          <a:custGeom>
            <a:avLst/>
            <a:gdLst/>
            <a:ahLst/>
            <a:cxnLst/>
            <a:rect r="r" b="b" t="t" l="l"/>
            <a:pathLst>
              <a:path h="163610" w="163610">
                <a:moveTo>
                  <a:pt x="0" y="0"/>
                </a:moveTo>
                <a:lnTo>
                  <a:pt x="163610" y="0"/>
                </a:lnTo>
                <a:lnTo>
                  <a:pt x="163610" y="163610"/>
                </a:lnTo>
                <a:lnTo>
                  <a:pt x="0" y="16361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587594" y="3722590"/>
            <a:ext cx="163610" cy="163610"/>
          </a:xfrm>
          <a:custGeom>
            <a:avLst/>
            <a:gdLst/>
            <a:ahLst/>
            <a:cxnLst/>
            <a:rect r="r" b="b" t="t" l="l"/>
            <a:pathLst>
              <a:path h="163610" w="163610">
                <a:moveTo>
                  <a:pt x="0" y="0"/>
                </a:moveTo>
                <a:lnTo>
                  <a:pt x="163610" y="0"/>
                </a:lnTo>
                <a:lnTo>
                  <a:pt x="163610" y="163610"/>
                </a:lnTo>
                <a:lnTo>
                  <a:pt x="0" y="16361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36618" y="3224641"/>
            <a:ext cx="7969187" cy="5188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  <a:spcBef>
                <a:spcPct val="0"/>
              </a:spcBef>
            </a:pPr>
            <a:r>
              <a:rPr lang="en-US" b="true" sz="2300" spc="46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Qué monitoreamos:</a:t>
            </a:r>
            <a:r>
              <a:rPr lang="en-US" sz="2300" spc="46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</a:p>
          <a:p>
            <a:pPr algn="l">
              <a:lnSpc>
                <a:spcPts val="2553"/>
              </a:lnSpc>
              <a:spcBef>
                <a:spcPct val="0"/>
              </a:spcBef>
            </a:pPr>
          </a:p>
          <a:p>
            <a:pPr algn="l">
              <a:lnSpc>
                <a:spcPts val="2553"/>
              </a:lnSpc>
              <a:spcBef>
                <a:spcPct val="0"/>
              </a:spcBef>
            </a:pPr>
            <a:r>
              <a:rPr lang="en-US" sz="2300" spc="46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infraestructura ⟶ CPU/memoria/disco/red.</a:t>
            </a:r>
          </a:p>
          <a:p>
            <a:pPr algn="l">
              <a:lnSpc>
                <a:spcPts val="2553"/>
              </a:lnSpc>
              <a:spcBef>
                <a:spcPct val="0"/>
              </a:spcBef>
            </a:pPr>
          </a:p>
          <a:p>
            <a:pPr algn="l">
              <a:lnSpc>
                <a:spcPts val="2553"/>
              </a:lnSpc>
              <a:spcBef>
                <a:spcPct val="0"/>
              </a:spcBef>
            </a:pPr>
            <a:r>
              <a:rPr lang="en-US" sz="2300" spc="46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aplicación ⟶  latencia/user xp/error rate.</a:t>
            </a:r>
          </a:p>
          <a:p>
            <a:pPr algn="l">
              <a:lnSpc>
                <a:spcPts val="2553"/>
              </a:lnSpc>
              <a:spcBef>
                <a:spcPct val="0"/>
              </a:spcBef>
            </a:pPr>
          </a:p>
          <a:p>
            <a:pPr algn="l">
              <a:lnSpc>
                <a:spcPts val="2553"/>
              </a:lnSpc>
              <a:spcBef>
                <a:spcPct val="0"/>
              </a:spcBef>
            </a:pPr>
            <a:r>
              <a:rPr lang="en-US" sz="2300" spc="46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</a:p>
          <a:p>
            <a:pPr algn="l">
              <a:lnSpc>
                <a:spcPts val="2553"/>
              </a:lnSpc>
              <a:spcBef>
                <a:spcPct val="0"/>
              </a:spcBef>
            </a:pPr>
          </a:p>
          <a:p>
            <a:pPr algn="l">
              <a:lnSpc>
                <a:spcPts val="2553"/>
              </a:lnSpc>
              <a:spcBef>
                <a:spcPct val="0"/>
              </a:spcBef>
            </a:pPr>
            <a:r>
              <a:rPr lang="en-US" b="true" sz="2300" spc="46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Alertas mínimas (umbrales): </a:t>
            </a:r>
          </a:p>
          <a:p>
            <a:pPr algn="l" marL="496571" indent="-248285" lvl="1">
              <a:lnSpc>
                <a:spcPts val="2553"/>
              </a:lnSpc>
              <a:spcBef>
                <a:spcPct val="0"/>
              </a:spcBef>
              <a:buFont typeface="Arial"/>
              <a:buChar char="•"/>
            </a:pPr>
            <a:r>
              <a:rPr lang="en-US" sz="2300" spc="46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CPU&gt;80%</a:t>
            </a:r>
          </a:p>
          <a:p>
            <a:pPr algn="l">
              <a:lnSpc>
                <a:spcPts val="2553"/>
              </a:lnSpc>
              <a:spcBef>
                <a:spcPct val="0"/>
              </a:spcBef>
            </a:pPr>
          </a:p>
          <a:p>
            <a:pPr algn="l" marL="496571" indent="-248285" lvl="1">
              <a:lnSpc>
                <a:spcPts val="2553"/>
              </a:lnSpc>
              <a:spcBef>
                <a:spcPct val="0"/>
              </a:spcBef>
              <a:buFont typeface="Arial"/>
              <a:buChar char="•"/>
            </a:pPr>
            <a:r>
              <a:rPr lang="en-US" sz="2300" spc="46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M</a:t>
            </a:r>
            <a:r>
              <a:rPr lang="en-US" sz="2300" spc="46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emoria&gt;90%</a:t>
            </a:r>
          </a:p>
          <a:p>
            <a:pPr algn="l">
              <a:lnSpc>
                <a:spcPts val="2553"/>
              </a:lnSpc>
              <a:spcBef>
                <a:spcPct val="0"/>
              </a:spcBef>
            </a:pPr>
          </a:p>
          <a:p>
            <a:pPr algn="l" marL="496571" indent="-248285" lvl="1">
              <a:lnSpc>
                <a:spcPts val="2553"/>
              </a:lnSpc>
              <a:spcBef>
                <a:spcPct val="0"/>
              </a:spcBef>
              <a:buFont typeface="Arial"/>
              <a:buChar char="•"/>
            </a:pPr>
            <a:r>
              <a:rPr lang="en-US" sz="2300" spc="46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p95&gt;100ms</a:t>
            </a:r>
          </a:p>
          <a:p>
            <a:pPr algn="l">
              <a:lnSpc>
                <a:spcPts val="2553"/>
              </a:lnSpc>
              <a:spcBef>
                <a:spcPct val="0"/>
              </a:spcBef>
            </a:pPr>
          </a:p>
          <a:p>
            <a:pPr algn="l" marL="496571" indent="-248285" lvl="1">
              <a:lnSpc>
                <a:spcPts val="2553"/>
              </a:lnSpc>
              <a:spcBef>
                <a:spcPct val="0"/>
              </a:spcBef>
              <a:buFont typeface="Arial"/>
              <a:buChar char="•"/>
            </a:pPr>
            <a:r>
              <a:rPr lang="en-US" sz="2300" spc="46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error rate&gt;1%.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8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1415" y="0"/>
            <a:ext cx="9806585" cy="10372350"/>
          </a:xfrm>
          <a:custGeom>
            <a:avLst/>
            <a:gdLst/>
            <a:ahLst/>
            <a:cxnLst/>
            <a:rect r="r" b="b" t="t" l="l"/>
            <a:pathLst>
              <a:path h="10372350" w="9806585">
                <a:moveTo>
                  <a:pt x="0" y="0"/>
                </a:moveTo>
                <a:lnTo>
                  <a:pt x="9806585" y="0"/>
                </a:lnTo>
                <a:lnTo>
                  <a:pt x="9806585" y="10372350"/>
                </a:lnTo>
                <a:lnTo>
                  <a:pt x="0" y="103723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349127" y="4105275"/>
            <a:ext cx="8025969" cy="218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8000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¡Muchas</a:t>
            </a:r>
          </a:p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8000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DAHBswSCRjo</dc:identifier>
  <dcterms:modified xsi:type="dcterms:W3CDTF">2011-08-01T06:04:30Z</dcterms:modified>
  <cp:revision>1</cp:revision>
  <dc:title>IDII</dc:title>
</cp:coreProperties>
</file>